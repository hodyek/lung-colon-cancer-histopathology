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832"/>
        </a:solidFill>
      </p:bgPr>
    </p:bg>
    <p:spTree>
      <p:nvGrpSpPr>
        <p:cNvPr id="1" name=""/>
        <p:cNvGrpSpPr/>
        <p:nvPr/>
      </p:nvGrpSpPr>
      <p:grpSpPr>
        <a:xfrm>
          <a:off x="0" y="0"/>
          <a:ext cx="0" cy="0"/>
          <a:chOff x="0" y="0"/>
          <a:chExt cx="0" cy="0"/>
        </a:xfrm>
      </p:grpSpPr>
      <p:sp>
        <p:nvSpPr>
          <p:cNvPr id="2" name="Shape 0"/>
          <p:cNvSpPr/>
          <p:nvPr/>
        </p:nvSpPr>
        <p:spPr>
          <a:xfrm>
            <a:off x="7132320" y="-914400"/>
            <a:ext cx="3657600" cy="3657600"/>
          </a:xfrm>
          <a:prstGeom prst="ellipse">
            <a:avLst/>
          </a:prstGeom>
          <a:solidFill>
            <a:srgbClr val="2E8B7A">
              <a:alpha val="12000"/>
            </a:srgbClr>
          </a:solidFill>
          <a:ln w="12700">
            <a:solidFill>
              <a:srgbClr val="2E8B7A"/>
            </a:solidFill>
            <a:prstDash val="solid"/>
          </a:ln>
        </p:spPr>
      </p:sp>
      <p:sp>
        <p:nvSpPr>
          <p:cNvPr id="3" name="Shape 1"/>
          <p:cNvSpPr/>
          <p:nvPr/>
        </p:nvSpPr>
        <p:spPr>
          <a:xfrm>
            <a:off x="7772400" y="-457200"/>
            <a:ext cx="2194560" cy="2194560"/>
          </a:xfrm>
          <a:prstGeom prst="ellipse">
            <a:avLst/>
          </a:prstGeom>
          <a:solidFill>
            <a:srgbClr val="A8D8CE">
              <a:alpha val="10000"/>
            </a:srgbClr>
          </a:solidFill>
          <a:ln w="12700">
            <a:solidFill>
              <a:srgbClr val="A8D8CE"/>
            </a:solidFill>
            <a:prstDash val="solid"/>
          </a:ln>
        </p:spPr>
      </p:sp>
      <p:sp>
        <p:nvSpPr>
          <p:cNvPr id="4" name="Shape 2"/>
          <p:cNvSpPr/>
          <p:nvPr/>
        </p:nvSpPr>
        <p:spPr>
          <a:xfrm>
            <a:off x="6583680" y="-274320"/>
            <a:ext cx="4572000" cy="4572000"/>
          </a:xfrm>
          <a:prstGeom prst="ellipse">
            <a:avLst/>
          </a:prstGeom>
          <a:solidFill>
            <a:srgbClr val="2E8B7A">
              <a:alpha val="15000"/>
            </a:srgbClr>
          </a:solidFill>
          <a:ln w="12700">
            <a:solidFill>
              <a:srgbClr val="2E8B7A"/>
            </a:solidFill>
            <a:prstDash val="solid"/>
          </a:ln>
        </p:spPr>
      </p:sp>
      <p:sp>
        <p:nvSpPr>
          <p:cNvPr id="5" name="Shape 3"/>
          <p:cNvSpPr/>
          <p:nvPr/>
        </p:nvSpPr>
        <p:spPr>
          <a:xfrm>
            <a:off x="640080" y="457200"/>
            <a:ext cx="2560320" cy="256032"/>
          </a:xfrm>
          <a:prstGeom prst="rect">
            <a:avLst/>
          </a:prstGeom>
          <a:solidFill>
            <a:srgbClr val="2E8B7A">
              <a:alpha val="80000"/>
            </a:srgbClr>
          </a:solidFill>
          <a:ln w="12700">
            <a:solidFill>
              <a:srgbClr val="2E8B7A"/>
            </a:solidFill>
            <a:prstDash val="solid"/>
          </a:ln>
        </p:spPr>
      </p:sp>
      <p:sp>
        <p:nvSpPr>
          <p:cNvPr id="6" name="Text 4"/>
          <p:cNvSpPr/>
          <p:nvPr/>
        </p:nvSpPr>
        <p:spPr>
          <a:xfrm>
            <a:off x="640080" y="457200"/>
            <a:ext cx="2560320" cy="256032"/>
          </a:xfrm>
          <a:prstGeom prst="rect">
            <a:avLst/>
          </a:prstGeom>
          <a:noFill/>
          <a:ln/>
        </p:spPr>
        <p:txBody>
          <a:bodyPr wrap="square" lIns="0" tIns="50800" rIns="50800" bIns="0" rtlCol="0" anchor="ctr"/>
          <a:lstStyle/>
          <a:p>
            <a:pPr algn="l" indent="0" marL="0">
              <a:buNone/>
            </a:pPr>
            <a:r>
              <a:rPr lang="en-US" sz="700" b="1" dirty="0">
                <a:solidFill>
                  <a:srgbClr val="A8D8CE"/>
                </a:solidFill>
                <a:latin typeface="Calibri" pitchFamily="34" charset="0"/>
                <a:ea typeface="Calibri" pitchFamily="34" charset="-122"/>
                <a:cs typeface="Calibri" pitchFamily="34" charset="-120"/>
              </a:rPr>
              <a:t>MSB7216  |  DEEP LEARNING FOR HEALTH DATA</a:t>
            </a:r>
            <a:endParaRPr lang="en-US" sz="700" dirty="0"/>
          </a:p>
        </p:txBody>
      </p:sp>
      <p:sp>
        <p:nvSpPr>
          <p:cNvPr id="7" name="Text 5"/>
          <p:cNvSpPr/>
          <p:nvPr/>
        </p:nvSpPr>
        <p:spPr>
          <a:xfrm>
            <a:off x="640080" y="868680"/>
            <a:ext cx="6400800" cy="1417320"/>
          </a:xfrm>
          <a:prstGeom prst="rect">
            <a:avLst/>
          </a:prstGeom>
          <a:noFill/>
          <a:ln/>
        </p:spPr>
        <p:txBody>
          <a:bodyPr wrap="square"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Lung and Colon Cancer</a:t>
            </a:r>
            <a:endParaRPr lang="en-US" sz="3400" dirty="0"/>
          </a:p>
          <a:p>
            <a:pPr algn="l" indent="0" marL="0">
              <a:buNone/>
            </a:pPr>
            <a:r>
              <a:rPr lang="en-US" sz="3400" b="1" dirty="0">
                <a:solidFill>
                  <a:srgbClr val="FFFFFF"/>
                </a:solidFill>
                <a:latin typeface="Calibri" pitchFamily="34" charset="0"/>
                <a:ea typeface="Calibri" pitchFamily="34" charset="-122"/>
                <a:cs typeface="Calibri" pitchFamily="34" charset="-120"/>
              </a:rPr>
              <a:t>Histopathological Classification</a:t>
            </a:r>
            <a:endParaRPr lang="en-US" sz="3400" dirty="0"/>
          </a:p>
        </p:txBody>
      </p:sp>
      <p:sp>
        <p:nvSpPr>
          <p:cNvPr id="8" name="Text 6"/>
          <p:cNvSpPr/>
          <p:nvPr/>
        </p:nvSpPr>
        <p:spPr>
          <a:xfrm>
            <a:off x="640080" y="2377440"/>
            <a:ext cx="6583680" cy="438912"/>
          </a:xfrm>
          <a:prstGeom prst="rect">
            <a:avLst/>
          </a:prstGeom>
          <a:noFill/>
          <a:ln/>
        </p:spPr>
        <p:txBody>
          <a:bodyPr wrap="square" rtlCol="0" anchor="ctr"/>
          <a:lstStyle/>
          <a:p>
            <a:pPr algn="l" indent="0" marL="0">
              <a:buNone/>
            </a:pPr>
            <a:r>
              <a:rPr lang="en-US" sz="1300" i="1" dirty="0">
                <a:solidFill>
                  <a:srgbClr val="A8D8CE"/>
                </a:solidFill>
                <a:latin typeface="Calibri" pitchFamily="34" charset="0"/>
                <a:ea typeface="Calibri" pitchFamily="34" charset="-122"/>
                <a:cs typeface="Calibri" pitchFamily="34" charset="-120"/>
              </a:rPr>
              <a:t>An Explainable Deep Learning Approach Using the LC25000 Dataset</a:t>
            </a:r>
            <a:endParaRPr lang="en-US" sz="1300" dirty="0"/>
          </a:p>
        </p:txBody>
      </p:sp>
      <p:sp>
        <p:nvSpPr>
          <p:cNvPr id="9" name="Shape 7"/>
          <p:cNvSpPr/>
          <p:nvPr/>
        </p:nvSpPr>
        <p:spPr>
          <a:xfrm>
            <a:off x="640080" y="2944368"/>
            <a:ext cx="3474720" cy="36576"/>
          </a:xfrm>
          <a:prstGeom prst="rect">
            <a:avLst/>
          </a:prstGeom>
          <a:solidFill>
            <a:srgbClr val="C8943A"/>
          </a:solidFill>
          <a:ln w="12700">
            <a:solidFill>
              <a:srgbClr val="C8943A"/>
            </a:solidFill>
            <a:prstDash val="solid"/>
          </a:ln>
        </p:spPr>
      </p:sp>
      <p:sp>
        <p:nvSpPr>
          <p:cNvPr id="10" name="Text 8"/>
          <p:cNvSpPr/>
          <p:nvPr/>
        </p:nvSpPr>
        <p:spPr>
          <a:xfrm>
            <a:off x="640080" y="3090672"/>
            <a:ext cx="7132320" cy="91440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Odyek Henry
</a:t>
            </a:r>
            <a:pPr algn="l" indent="0" marL="0">
              <a:buNone/>
            </a:pPr>
            <a:r>
              <a:rPr lang="en-US" sz="1100" dirty="0">
                <a:solidFill>
                  <a:srgbClr val="FFFFFF"/>
                </a:solidFill>
                <a:latin typeface="Calibri" pitchFamily="34" charset="0"/>
                <a:ea typeface="Calibri" pitchFamily="34" charset="-122"/>
                <a:cs typeface="Calibri" pitchFamily="34" charset="-120"/>
              </a:rPr>
              <a:t>2025/HD07/26018U  |  Makerere University, Kampala, Uganda
</a:t>
            </a:r>
            <a:pPr algn="l" indent="0" marL="0">
              <a:buNone/>
            </a:pPr>
            <a:r>
              <a:rPr lang="en-US" sz="1100" dirty="0">
                <a:solidFill>
                  <a:srgbClr val="A8D8CE"/>
                </a:solidFill>
                <a:latin typeface="Calibri" pitchFamily="34" charset="0"/>
                <a:ea typeface="Calibri" pitchFamily="34" charset="-122"/>
                <a:cs typeface="Calibri" pitchFamily="34" charset="-120"/>
              </a:rPr>
              <a:t>github.com/hodyek/lung-colon-cancer-histopathology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237744" cy="5143500"/>
          </a:xfrm>
          <a:prstGeom prst="rect">
            <a:avLst/>
          </a:prstGeom>
          <a:solidFill>
            <a:srgbClr val="162832"/>
          </a:solidFill>
          <a:ln w="12700">
            <a:solidFill>
              <a:srgbClr val="162832"/>
            </a:solidFill>
            <a:prstDash val="solid"/>
          </a:ln>
        </p:spPr>
      </p:sp>
      <p:sp>
        <p:nvSpPr>
          <p:cNvPr id="3" name="Shape 1"/>
          <p:cNvSpPr/>
          <p:nvPr/>
        </p:nvSpPr>
        <p:spPr>
          <a:xfrm>
            <a:off x="237744" y="0"/>
            <a:ext cx="8906256" cy="804672"/>
          </a:xfrm>
          <a:prstGeom prst="rect">
            <a:avLst/>
          </a:prstGeom>
          <a:solidFill>
            <a:srgbClr val="162832"/>
          </a:solidFill>
          <a:ln w="12700">
            <a:solidFill>
              <a:srgbClr val="162832"/>
            </a:solidFill>
            <a:prstDash val="solid"/>
          </a:ln>
        </p:spPr>
      </p:sp>
      <p:sp>
        <p:nvSpPr>
          <p:cNvPr id="4" name="Text 2"/>
          <p:cNvSpPr/>
          <p:nvPr/>
        </p:nvSpPr>
        <p:spPr>
          <a:xfrm>
            <a:off x="475488" y="73152"/>
            <a:ext cx="8321040" cy="658368"/>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Background &amp; Motivation</a:t>
            </a:r>
            <a:endParaRPr lang="en-US" sz="1900" dirty="0"/>
          </a:p>
        </p:txBody>
      </p:sp>
      <p:sp>
        <p:nvSpPr>
          <p:cNvPr id="5" name="Shape 3"/>
          <p:cNvSpPr/>
          <p:nvPr/>
        </p:nvSpPr>
        <p:spPr>
          <a:xfrm>
            <a:off x="0" y="4956048"/>
            <a:ext cx="9144000" cy="187452"/>
          </a:xfrm>
          <a:prstGeom prst="rect">
            <a:avLst/>
          </a:prstGeom>
          <a:solidFill>
            <a:srgbClr val="A8D8CE">
              <a:alpha val="45000"/>
            </a:srgbClr>
          </a:solidFill>
          <a:ln w="12700">
            <a:solidFill>
              <a:srgbClr val="A8D8CE"/>
            </a:solidFill>
            <a:prstDash val="solid"/>
          </a:ln>
        </p:spPr>
      </p:sp>
      <p:sp>
        <p:nvSpPr>
          <p:cNvPr id="6" name="Text 4"/>
          <p:cNvSpPr/>
          <p:nvPr/>
        </p:nvSpPr>
        <p:spPr>
          <a:xfrm>
            <a:off x="457200" y="914400"/>
            <a:ext cx="5394960" cy="1005840"/>
          </a:xfrm>
          <a:prstGeom prst="rect">
            <a:avLst/>
          </a:prstGeom>
          <a:noFill/>
          <a:ln/>
        </p:spPr>
        <p:txBody>
          <a:bodyPr wrap="square" rtlCol="0" anchor="ctr"/>
          <a:lstStyle/>
          <a:p>
            <a:pPr indent="0" marL="0">
              <a:buNone/>
            </a:pPr>
            <a:r>
              <a:rPr lang="en-US" sz="1100" dirty="0">
                <a:solidFill>
                  <a:srgbClr val="2E4A5A"/>
                </a:solidFill>
                <a:latin typeface="Calibri" pitchFamily="34" charset="0"/>
                <a:ea typeface="Calibri" pitchFamily="34" charset="-122"/>
                <a:cs typeface="Calibri" pitchFamily="34" charset="-120"/>
              </a:rPr>
              <a:t>Lung and colon cancers are among the leading causes of cancer-related mortality worldwide. Histopathological examination of tissue biopsies remains the gold standard for diagnosis, but manual microscopic review is time-consuming, requires specialist pathologists, and is subject to inter-observer variability.</a:t>
            </a:r>
            <a:endParaRPr lang="en-US" sz="1100" dirty="0"/>
          </a:p>
        </p:txBody>
      </p:sp>
      <p:sp>
        <p:nvSpPr>
          <p:cNvPr id="7" name="Text 5"/>
          <p:cNvSpPr/>
          <p:nvPr/>
        </p:nvSpPr>
        <p:spPr>
          <a:xfrm>
            <a:off x="457200" y="1965960"/>
            <a:ext cx="5394960" cy="1005840"/>
          </a:xfrm>
          <a:prstGeom prst="rect">
            <a:avLst/>
          </a:prstGeom>
          <a:noFill/>
          <a:ln/>
        </p:spPr>
        <p:txBody>
          <a:bodyPr wrap="square" rtlCol="0" anchor="ctr"/>
          <a:lstStyle/>
          <a:p>
            <a:pPr indent="0" marL="0">
              <a:buNone/>
            </a:pPr>
            <a:r>
              <a:rPr lang="en-US" sz="1100" dirty="0">
                <a:solidFill>
                  <a:srgbClr val="2E4A5A"/>
                </a:solidFill>
                <a:latin typeface="Calibri" pitchFamily="34" charset="0"/>
                <a:ea typeface="Calibri" pitchFamily="34" charset="-122"/>
                <a:cs typeface="Calibri" pitchFamily="34" charset="-120"/>
              </a:rPr>
              <a:t>Deep learning has demonstrated the ability to classify histopathological images with accuracy comparable to expert pathologists. However, most published studies on the LC25000 dataset report overall accuracy without structured analysis of what the model learns per tissue class, or whether Macenko stain normalisation changes model attention.</a:t>
            </a:r>
            <a:endParaRPr lang="en-US" sz="1100" dirty="0"/>
          </a:p>
        </p:txBody>
      </p:sp>
      <p:sp>
        <p:nvSpPr>
          <p:cNvPr id="8" name="Shape 6"/>
          <p:cNvSpPr/>
          <p:nvPr/>
        </p:nvSpPr>
        <p:spPr>
          <a:xfrm>
            <a:off x="6035040" y="914400"/>
            <a:ext cx="1463040" cy="960120"/>
          </a:xfrm>
          <a:prstGeom prst="rect">
            <a:avLst/>
          </a:prstGeom>
          <a:solidFill>
            <a:srgbClr val="1A5C4E"/>
          </a:solidFill>
          <a:ln w="12700">
            <a:solidFill>
              <a:srgbClr val="1A5C4E"/>
            </a:solidFill>
            <a:prstDash val="solid"/>
          </a:ln>
          <a:effectLst>
            <a:outerShdw sx="100000" sy="100000" kx="0" ky="0" algn="bl" rotWithShape="0" blurRad="63500" dist="25400" dir="8100000">
              <a:srgbClr val="000000">
                <a:alpha val="10000"/>
              </a:srgbClr>
            </a:outerShdw>
          </a:effectLst>
        </p:spPr>
      </p:sp>
      <p:sp>
        <p:nvSpPr>
          <p:cNvPr id="9" name="Text 7"/>
          <p:cNvSpPr/>
          <p:nvPr/>
        </p:nvSpPr>
        <p:spPr>
          <a:xfrm>
            <a:off x="6035040" y="969264"/>
            <a:ext cx="1463040" cy="537667"/>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25,000</a:t>
            </a:r>
            <a:endParaRPr lang="en-US" sz="2400" dirty="0"/>
          </a:p>
        </p:txBody>
      </p:sp>
      <p:sp>
        <p:nvSpPr>
          <p:cNvPr id="10" name="Text 8"/>
          <p:cNvSpPr/>
          <p:nvPr/>
        </p:nvSpPr>
        <p:spPr>
          <a:xfrm>
            <a:off x="6035040" y="1471270"/>
            <a:ext cx="1463040" cy="364846"/>
          </a:xfrm>
          <a:prstGeom prst="rect">
            <a:avLst/>
          </a:prstGeom>
          <a:noFill/>
          <a:ln/>
        </p:spPr>
        <p:txBody>
          <a:bodyPr wrap="square" lIns="0" tIns="0" rIns="0" bIns="0" rtlCol="0" anchor="t"/>
          <a:lstStyle/>
          <a:p>
            <a:pPr algn="ctr" indent="0" marL="0">
              <a:buNone/>
            </a:pPr>
            <a:r>
              <a:rPr lang="en-US" sz="900" dirty="0">
                <a:solidFill>
                  <a:srgbClr val="A8D8CE"/>
                </a:solidFill>
                <a:latin typeface="Calibri" pitchFamily="34" charset="0"/>
                <a:ea typeface="Calibri" pitchFamily="34" charset="-122"/>
                <a:cs typeface="Calibri" pitchFamily="34" charset="-120"/>
              </a:rPr>
              <a:t>H&amp;E images</a:t>
            </a:r>
            <a:endParaRPr lang="en-US" sz="900" dirty="0"/>
          </a:p>
          <a:p>
            <a:pPr algn="ctr" indent="0" marL="0">
              <a:buNone/>
            </a:pPr>
            <a:r>
              <a:rPr lang="en-US" sz="900" dirty="0">
                <a:solidFill>
                  <a:srgbClr val="A8D8CE"/>
                </a:solidFill>
                <a:latin typeface="Calibri" pitchFamily="34" charset="0"/>
                <a:ea typeface="Calibri" pitchFamily="34" charset="-122"/>
                <a:cs typeface="Calibri" pitchFamily="34" charset="-120"/>
              </a:rPr>
              <a:t>LC25000 dataset</a:t>
            </a:r>
            <a:endParaRPr lang="en-US" sz="900" dirty="0"/>
          </a:p>
        </p:txBody>
      </p:sp>
      <p:sp>
        <p:nvSpPr>
          <p:cNvPr id="11" name="Shape 9"/>
          <p:cNvSpPr/>
          <p:nvPr/>
        </p:nvSpPr>
        <p:spPr>
          <a:xfrm>
            <a:off x="7571232" y="914400"/>
            <a:ext cx="1463040" cy="960120"/>
          </a:xfrm>
          <a:prstGeom prst="rect">
            <a:avLst/>
          </a:prstGeom>
          <a:solidFill>
            <a:srgbClr val="1A5C4E"/>
          </a:solidFill>
          <a:ln w="12700">
            <a:solidFill>
              <a:srgbClr val="1A5C4E"/>
            </a:solidFill>
            <a:prstDash val="solid"/>
          </a:ln>
          <a:effectLst>
            <a:outerShdw sx="100000" sy="100000" kx="0" ky="0" algn="bl" rotWithShape="0" blurRad="63500" dist="25400" dir="8100000">
              <a:srgbClr val="000000">
                <a:alpha val="10000"/>
              </a:srgbClr>
            </a:outerShdw>
          </a:effectLst>
        </p:spPr>
      </p:sp>
      <p:sp>
        <p:nvSpPr>
          <p:cNvPr id="12" name="Text 10"/>
          <p:cNvSpPr/>
          <p:nvPr/>
        </p:nvSpPr>
        <p:spPr>
          <a:xfrm>
            <a:off x="7571232" y="969264"/>
            <a:ext cx="1463040" cy="537667"/>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13" name="Text 11"/>
          <p:cNvSpPr/>
          <p:nvPr/>
        </p:nvSpPr>
        <p:spPr>
          <a:xfrm>
            <a:off x="7571232" y="1471270"/>
            <a:ext cx="1463040" cy="364846"/>
          </a:xfrm>
          <a:prstGeom prst="rect">
            <a:avLst/>
          </a:prstGeom>
          <a:noFill/>
          <a:ln/>
        </p:spPr>
        <p:txBody>
          <a:bodyPr wrap="square" lIns="0" tIns="0" rIns="0" bIns="0" rtlCol="0" anchor="t"/>
          <a:lstStyle/>
          <a:p>
            <a:pPr algn="ctr" indent="0" marL="0">
              <a:buNone/>
            </a:pPr>
            <a:r>
              <a:rPr lang="en-US" sz="900" dirty="0">
                <a:solidFill>
                  <a:srgbClr val="A8D8CE"/>
                </a:solidFill>
                <a:latin typeface="Calibri" pitchFamily="34" charset="0"/>
                <a:ea typeface="Calibri" pitchFamily="34" charset="-122"/>
                <a:cs typeface="Calibri" pitchFamily="34" charset="-120"/>
              </a:rPr>
              <a:t>tissue classes</a:t>
            </a:r>
            <a:endParaRPr lang="en-US" sz="900" dirty="0"/>
          </a:p>
          <a:p>
            <a:pPr algn="ctr" indent="0" marL="0">
              <a:buNone/>
            </a:pPr>
            <a:r>
              <a:rPr lang="en-US" sz="900" dirty="0">
                <a:solidFill>
                  <a:srgbClr val="A8D8CE"/>
                </a:solidFill>
                <a:latin typeface="Calibri" pitchFamily="34" charset="0"/>
                <a:ea typeface="Calibri" pitchFamily="34" charset="-122"/>
                <a:cs typeface="Calibri" pitchFamily="34" charset="-120"/>
              </a:rPr>
              <a:t>lung &amp; colon</a:t>
            </a:r>
            <a:endParaRPr lang="en-US" sz="900" dirty="0"/>
          </a:p>
        </p:txBody>
      </p:sp>
      <p:sp>
        <p:nvSpPr>
          <p:cNvPr id="14" name="Shape 12"/>
          <p:cNvSpPr/>
          <p:nvPr/>
        </p:nvSpPr>
        <p:spPr>
          <a:xfrm>
            <a:off x="6035040" y="1947672"/>
            <a:ext cx="2999232" cy="960120"/>
          </a:xfrm>
          <a:prstGeom prst="rect">
            <a:avLst/>
          </a:prstGeom>
          <a:solidFill>
            <a:srgbClr val="162832"/>
          </a:solidFill>
          <a:ln w="12700">
            <a:solidFill>
              <a:srgbClr val="162832"/>
            </a:solidFill>
            <a:prstDash val="solid"/>
          </a:ln>
          <a:effectLst>
            <a:outerShdw sx="100000" sy="100000" kx="0" ky="0" algn="bl" rotWithShape="0" blurRad="63500" dist="25400" dir="8100000">
              <a:srgbClr val="000000">
                <a:alpha val="10000"/>
              </a:srgbClr>
            </a:outerShdw>
          </a:effectLst>
        </p:spPr>
      </p:sp>
      <p:sp>
        <p:nvSpPr>
          <p:cNvPr id="15" name="Text 13"/>
          <p:cNvSpPr/>
          <p:nvPr/>
        </p:nvSpPr>
        <p:spPr>
          <a:xfrm>
            <a:off x="6035040" y="2002536"/>
            <a:ext cx="2999232" cy="537667"/>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5,000</a:t>
            </a:r>
            <a:endParaRPr lang="en-US" sz="2400" dirty="0"/>
          </a:p>
        </p:txBody>
      </p:sp>
      <p:sp>
        <p:nvSpPr>
          <p:cNvPr id="16" name="Text 14"/>
          <p:cNvSpPr/>
          <p:nvPr/>
        </p:nvSpPr>
        <p:spPr>
          <a:xfrm>
            <a:off x="6035040" y="2504542"/>
            <a:ext cx="2999232" cy="364846"/>
          </a:xfrm>
          <a:prstGeom prst="rect">
            <a:avLst/>
          </a:prstGeom>
          <a:noFill/>
          <a:ln/>
        </p:spPr>
        <p:txBody>
          <a:bodyPr wrap="square" lIns="0" tIns="0" rIns="0" bIns="0" rtlCol="0" anchor="t"/>
          <a:lstStyle/>
          <a:p>
            <a:pPr algn="ctr" indent="0" marL="0">
              <a:buNone/>
            </a:pPr>
            <a:r>
              <a:rPr lang="en-US" sz="900" dirty="0">
                <a:solidFill>
                  <a:srgbClr val="A8D8CE"/>
                </a:solidFill>
                <a:latin typeface="Calibri" pitchFamily="34" charset="0"/>
                <a:ea typeface="Calibri" pitchFamily="34" charset="-122"/>
                <a:cs typeface="Calibri" pitchFamily="34" charset="-120"/>
              </a:rPr>
              <a:t>images per class</a:t>
            </a:r>
            <a:endParaRPr lang="en-US" sz="900" dirty="0"/>
          </a:p>
          <a:p>
            <a:pPr algn="ctr" indent="0" marL="0">
              <a:buNone/>
            </a:pPr>
            <a:r>
              <a:rPr lang="en-US" sz="900" dirty="0">
                <a:solidFill>
                  <a:srgbClr val="A8D8CE"/>
                </a:solidFill>
                <a:latin typeface="Calibri" pitchFamily="34" charset="0"/>
                <a:ea typeface="Calibri" pitchFamily="34" charset="-122"/>
                <a:cs typeface="Calibri" pitchFamily="34" charset="-120"/>
              </a:rPr>
              <a:t>balanced dataset</a:t>
            </a:r>
            <a:endParaRPr lang="en-US" sz="900" dirty="0"/>
          </a:p>
        </p:txBody>
      </p:sp>
      <p:sp>
        <p:nvSpPr>
          <p:cNvPr id="17" name="Shape 15"/>
          <p:cNvSpPr/>
          <p:nvPr/>
        </p:nvSpPr>
        <p:spPr>
          <a:xfrm>
            <a:off x="457200" y="3017520"/>
            <a:ext cx="5394960" cy="713232"/>
          </a:xfrm>
          <a:prstGeom prst="rect">
            <a:avLst/>
          </a:prstGeom>
          <a:solidFill>
            <a:srgbClr val="FDF3DC"/>
          </a:solidFill>
          <a:ln w="12700">
            <a:solidFill>
              <a:srgbClr val="C8943A"/>
            </a:solidFill>
            <a:prstDash val="solid"/>
          </a:ln>
        </p:spPr>
      </p:sp>
      <p:sp>
        <p:nvSpPr>
          <p:cNvPr id="18" name="Text 16"/>
          <p:cNvSpPr/>
          <p:nvPr/>
        </p:nvSpPr>
        <p:spPr>
          <a:xfrm>
            <a:off x="566928" y="3072384"/>
            <a:ext cx="5212080" cy="640080"/>
          </a:xfrm>
          <a:prstGeom prst="rect">
            <a:avLst/>
          </a:prstGeom>
          <a:noFill/>
          <a:ln/>
        </p:spPr>
        <p:txBody>
          <a:bodyPr wrap="square" rtlCol="0" anchor="ctr"/>
          <a:lstStyle/>
          <a:p>
            <a:pPr indent="0" marL="0">
              <a:buNone/>
            </a:pPr>
            <a:r>
              <a:rPr lang="en-US" sz="1000" i="1" dirty="0">
                <a:solidFill>
                  <a:srgbClr val="162832"/>
                </a:solidFill>
                <a:latin typeface="Calibri" pitchFamily="34" charset="0"/>
                <a:ea typeface="Calibri" pitchFamily="34" charset="-122"/>
                <a:cs typeface="Calibri" pitchFamily="34" charset="-120"/>
              </a:rPr>
              <a:t>Gap: No published LC25000 study has systematically connected Grad-CAM attention to specific histological markers per tissue class, or documented the effect of stain normalisation on what the model learns.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237744" cy="5143500"/>
          </a:xfrm>
          <a:prstGeom prst="rect">
            <a:avLst/>
          </a:prstGeom>
          <a:solidFill>
            <a:srgbClr val="162832"/>
          </a:solidFill>
          <a:ln w="12700">
            <a:solidFill>
              <a:srgbClr val="162832"/>
            </a:solidFill>
            <a:prstDash val="solid"/>
          </a:ln>
        </p:spPr>
      </p:sp>
      <p:sp>
        <p:nvSpPr>
          <p:cNvPr id="3" name="Shape 1"/>
          <p:cNvSpPr/>
          <p:nvPr/>
        </p:nvSpPr>
        <p:spPr>
          <a:xfrm>
            <a:off x="237744" y="0"/>
            <a:ext cx="8906256" cy="804672"/>
          </a:xfrm>
          <a:prstGeom prst="rect">
            <a:avLst/>
          </a:prstGeom>
          <a:solidFill>
            <a:srgbClr val="162832"/>
          </a:solidFill>
          <a:ln w="12700">
            <a:solidFill>
              <a:srgbClr val="162832"/>
            </a:solidFill>
            <a:prstDash val="solid"/>
          </a:ln>
        </p:spPr>
      </p:sp>
      <p:sp>
        <p:nvSpPr>
          <p:cNvPr id="4" name="Text 2"/>
          <p:cNvSpPr/>
          <p:nvPr/>
        </p:nvSpPr>
        <p:spPr>
          <a:xfrm>
            <a:off x="475488" y="73152"/>
            <a:ext cx="8321040" cy="658368"/>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Research Gap</a:t>
            </a:r>
            <a:endParaRPr lang="en-US" sz="1900" dirty="0"/>
          </a:p>
        </p:txBody>
      </p:sp>
      <p:sp>
        <p:nvSpPr>
          <p:cNvPr id="5" name="Shape 3"/>
          <p:cNvSpPr/>
          <p:nvPr/>
        </p:nvSpPr>
        <p:spPr>
          <a:xfrm>
            <a:off x="0" y="4956048"/>
            <a:ext cx="9144000" cy="187452"/>
          </a:xfrm>
          <a:prstGeom prst="rect">
            <a:avLst/>
          </a:prstGeom>
          <a:solidFill>
            <a:srgbClr val="A8D8CE">
              <a:alpha val="45000"/>
            </a:srgbClr>
          </a:solidFill>
          <a:ln w="12700">
            <a:solidFill>
              <a:srgbClr val="A8D8CE"/>
            </a:solidFill>
            <a:prstDash val="solid"/>
          </a:ln>
        </p:spPr>
      </p:sp>
      <p:sp>
        <p:nvSpPr>
          <p:cNvPr id="6" name="Shape 4"/>
          <p:cNvSpPr/>
          <p:nvPr/>
        </p:nvSpPr>
        <p:spPr>
          <a:xfrm>
            <a:off x="457200" y="987552"/>
            <a:ext cx="310896" cy="594360"/>
          </a:xfrm>
          <a:prstGeom prst="rect">
            <a:avLst/>
          </a:prstGeom>
          <a:solidFill>
            <a:srgbClr val="2E8B7A"/>
          </a:solidFill>
          <a:ln w="12700">
            <a:solidFill>
              <a:srgbClr val="2E8B7A"/>
            </a:solidFill>
            <a:prstDash val="solid"/>
          </a:ln>
        </p:spPr>
      </p:sp>
      <p:sp>
        <p:nvSpPr>
          <p:cNvPr id="7" name="Text 5"/>
          <p:cNvSpPr/>
          <p:nvPr/>
        </p:nvSpPr>
        <p:spPr>
          <a:xfrm>
            <a:off x="457200" y="987552"/>
            <a:ext cx="310896"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8" name="Text 6"/>
          <p:cNvSpPr/>
          <p:nvPr/>
        </p:nvSpPr>
        <p:spPr>
          <a:xfrm>
            <a:off x="859536" y="1033272"/>
            <a:ext cx="8138160" cy="594360"/>
          </a:xfrm>
          <a:prstGeom prst="rect">
            <a:avLst/>
          </a:prstGeom>
          <a:noFill/>
          <a:ln/>
        </p:spPr>
        <p:txBody>
          <a:bodyPr wrap="square" rtlCol="0" anchor="ctr"/>
          <a:lstStyle/>
          <a:p>
            <a:pPr indent="0" marL="0">
              <a:buNone/>
            </a:pPr>
            <a:r>
              <a:rPr lang="en-US" sz="1050" dirty="0">
                <a:solidFill>
                  <a:srgbClr val="2E4A5A"/>
                </a:solidFill>
                <a:latin typeface="Calibri" pitchFamily="34" charset="0"/>
                <a:ea typeface="Calibri" pitchFamily="34" charset="-122"/>
                <a:cs typeface="Calibri" pitchFamily="34" charset="-120"/>
              </a:rPr>
              <a:t>Most LC25000 studies report accuracy above 95% but rely on within-dataset validation only, limiting insight into cross-institutional robustness.</a:t>
            </a:r>
            <a:endParaRPr lang="en-US" sz="1050" dirty="0"/>
          </a:p>
        </p:txBody>
      </p:sp>
      <p:sp>
        <p:nvSpPr>
          <p:cNvPr id="9" name="Shape 7"/>
          <p:cNvSpPr/>
          <p:nvPr/>
        </p:nvSpPr>
        <p:spPr>
          <a:xfrm>
            <a:off x="457200" y="1856232"/>
            <a:ext cx="310896" cy="594360"/>
          </a:xfrm>
          <a:prstGeom prst="rect">
            <a:avLst/>
          </a:prstGeom>
          <a:solidFill>
            <a:srgbClr val="2E8B7A"/>
          </a:solidFill>
          <a:ln w="12700">
            <a:solidFill>
              <a:srgbClr val="2E8B7A"/>
            </a:solidFill>
            <a:prstDash val="solid"/>
          </a:ln>
        </p:spPr>
      </p:sp>
      <p:sp>
        <p:nvSpPr>
          <p:cNvPr id="10" name="Text 8"/>
          <p:cNvSpPr/>
          <p:nvPr/>
        </p:nvSpPr>
        <p:spPr>
          <a:xfrm>
            <a:off x="457200" y="1856232"/>
            <a:ext cx="310896"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1" name="Text 9"/>
          <p:cNvSpPr/>
          <p:nvPr/>
        </p:nvSpPr>
        <p:spPr>
          <a:xfrm>
            <a:off x="859536" y="1901952"/>
            <a:ext cx="8138160" cy="594360"/>
          </a:xfrm>
          <a:prstGeom prst="rect">
            <a:avLst/>
          </a:prstGeom>
          <a:noFill/>
          <a:ln/>
        </p:spPr>
        <p:txBody>
          <a:bodyPr wrap="square" rtlCol="0" anchor="ctr"/>
          <a:lstStyle/>
          <a:p>
            <a:pPr indent="0" marL="0">
              <a:buNone/>
            </a:pPr>
            <a:r>
              <a:rPr lang="en-US" sz="1050" dirty="0">
                <a:solidFill>
                  <a:srgbClr val="2E4A5A"/>
                </a:solidFill>
                <a:latin typeface="Calibri" pitchFamily="34" charset="0"/>
                <a:ea typeface="Calibri" pitchFamily="34" charset="-122"/>
                <a:cs typeface="Calibri" pitchFamily="34" charset="-120"/>
              </a:rPr>
              <a:t>Stain normalisation is rarely studied as a variable. Most papers apply augmentation and report accuracy without testing whether normalisation changes what the model learns.</a:t>
            </a:r>
            <a:endParaRPr lang="en-US" sz="1050" dirty="0"/>
          </a:p>
        </p:txBody>
      </p:sp>
      <p:sp>
        <p:nvSpPr>
          <p:cNvPr id="12" name="Shape 10"/>
          <p:cNvSpPr/>
          <p:nvPr/>
        </p:nvSpPr>
        <p:spPr>
          <a:xfrm>
            <a:off x="457200" y="2724912"/>
            <a:ext cx="310896" cy="594360"/>
          </a:xfrm>
          <a:prstGeom prst="rect">
            <a:avLst/>
          </a:prstGeom>
          <a:solidFill>
            <a:srgbClr val="2E8B7A"/>
          </a:solidFill>
          <a:ln w="12700">
            <a:solidFill>
              <a:srgbClr val="2E8B7A"/>
            </a:solidFill>
            <a:prstDash val="solid"/>
          </a:ln>
        </p:spPr>
      </p:sp>
      <p:sp>
        <p:nvSpPr>
          <p:cNvPr id="13" name="Text 11"/>
          <p:cNvSpPr/>
          <p:nvPr/>
        </p:nvSpPr>
        <p:spPr>
          <a:xfrm>
            <a:off x="457200" y="2724912"/>
            <a:ext cx="310896"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4" name="Text 12"/>
          <p:cNvSpPr/>
          <p:nvPr/>
        </p:nvSpPr>
        <p:spPr>
          <a:xfrm>
            <a:off x="859536" y="2770632"/>
            <a:ext cx="8138160" cy="594360"/>
          </a:xfrm>
          <a:prstGeom prst="rect">
            <a:avLst/>
          </a:prstGeom>
          <a:noFill/>
          <a:ln/>
        </p:spPr>
        <p:txBody>
          <a:bodyPr wrap="square" rtlCol="0" anchor="ctr"/>
          <a:lstStyle/>
          <a:p>
            <a:pPr indent="0" marL="0">
              <a:buNone/>
            </a:pPr>
            <a:r>
              <a:rPr lang="en-US" sz="1050" dirty="0">
                <a:solidFill>
                  <a:srgbClr val="2E4A5A"/>
                </a:solidFill>
                <a:latin typeface="Calibri" pitchFamily="34" charset="0"/>
                <a:ea typeface="Calibri" pitchFamily="34" charset="-122"/>
                <a:cs typeface="Calibri" pitchFamily="34" charset="-120"/>
              </a:rPr>
              <a:t>Explainability is applied as decoration, not analysis. Grad-CAM heatmaps appear in papers but are not connected to known histological structures per class in a structured way.</a:t>
            </a:r>
            <a:endParaRPr lang="en-US" sz="1050" dirty="0"/>
          </a:p>
        </p:txBody>
      </p:sp>
      <p:sp>
        <p:nvSpPr>
          <p:cNvPr id="15" name="Shape 13"/>
          <p:cNvSpPr/>
          <p:nvPr/>
        </p:nvSpPr>
        <p:spPr>
          <a:xfrm>
            <a:off x="457200" y="3593592"/>
            <a:ext cx="310896" cy="594360"/>
          </a:xfrm>
          <a:prstGeom prst="rect">
            <a:avLst/>
          </a:prstGeom>
          <a:solidFill>
            <a:srgbClr val="2E8B7A"/>
          </a:solidFill>
          <a:ln w="12700">
            <a:solidFill>
              <a:srgbClr val="2E8B7A"/>
            </a:solidFill>
            <a:prstDash val="solid"/>
          </a:ln>
        </p:spPr>
      </p:sp>
      <p:sp>
        <p:nvSpPr>
          <p:cNvPr id="16" name="Text 14"/>
          <p:cNvSpPr/>
          <p:nvPr/>
        </p:nvSpPr>
        <p:spPr>
          <a:xfrm>
            <a:off x="457200" y="3593592"/>
            <a:ext cx="310896"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17" name="Text 15"/>
          <p:cNvSpPr/>
          <p:nvPr/>
        </p:nvSpPr>
        <p:spPr>
          <a:xfrm>
            <a:off x="859536" y="3639312"/>
            <a:ext cx="8138160" cy="594360"/>
          </a:xfrm>
          <a:prstGeom prst="rect">
            <a:avLst/>
          </a:prstGeom>
          <a:noFill/>
          <a:ln/>
        </p:spPr>
        <p:txBody>
          <a:bodyPr wrap="square" rtlCol="0" anchor="ctr"/>
          <a:lstStyle/>
          <a:p>
            <a:pPr indent="0" marL="0">
              <a:buNone/>
            </a:pPr>
            <a:r>
              <a:rPr lang="en-US" sz="1050" dirty="0">
                <a:solidFill>
                  <a:srgbClr val="2E4A5A"/>
                </a:solidFill>
                <a:latin typeface="Calibri" pitchFamily="34" charset="0"/>
                <a:ea typeface="Calibri" pitchFamily="34" charset="-122"/>
                <a:cs typeface="Calibri" pitchFamily="34" charset="-120"/>
              </a:rPr>
              <a:t>Error analysis is superficial. Published papers rarely report which specific classes fail, under what conditions, or why confusion occurs between similar-looking tissue types.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237744" cy="5143500"/>
          </a:xfrm>
          <a:prstGeom prst="rect">
            <a:avLst/>
          </a:prstGeom>
          <a:solidFill>
            <a:srgbClr val="162832"/>
          </a:solidFill>
          <a:ln w="12700">
            <a:solidFill>
              <a:srgbClr val="162832"/>
            </a:solidFill>
            <a:prstDash val="solid"/>
          </a:ln>
        </p:spPr>
      </p:sp>
      <p:sp>
        <p:nvSpPr>
          <p:cNvPr id="3" name="Shape 1"/>
          <p:cNvSpPr/>
          <p:nvPr/>
        </p:nvSpPr>
        <p:spPr>
          <a:xfrm>
            <a:off x="237744" y="0"/>
            <a:ext cx="8906256" cy="804672"/>
          </a:xfrm>
          <a:prstGeom prst="rect">
            <a:avLst/>
          </a:prstGeom>
          <a:solidFill>
            <a:srgbClr val="162832"/>
          </a:solidFill>
          <a:ln w="12700">
            <a:solidFill>
              <a:srgbClr val="162832"/>
            </a:solidFill>
            <a:prstDash val="solid"/>
          </a:ln>
        </p:spPr>
      </p:sp>
      <p:sp>
        <p:nvSpPr>
          <p:cNvPr id="4" name="Text 2"/>
          <p:cNvSpPr/>
          <p:nvPr/>
        </p:nvSpPr>
        <p:spPr>
          <a:xfrm>
            <a:off x="475488" y="73152"/>
            <a:ext cx="8321040" cy="658368"/>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Research Objectives</a:t>
            </a:r>
            <a:endParaRPr lang="en-US" sz="1900" dirty="0"/>
          </a:p>
        </p:txBody>
      </p:sp>
      <p:sp>
        <p:nvSpPr>
          <p:cNvPr id="5" name="Shape 3"/>
          <p:cNvSpPr/>
          <p:nvPr/>
        </p:nvSpPr>
        <p:spPr>
          <a:xfrm>
            <a:off x="0" y="4956048"/>
            <a:ext cx="9144000" cy="187452"/>
          </a:xfrm>
          <a:prstGeom prst="rect">
            <a:avLst/>
          </a:prstGeom>
          <a:solidFill>
            <a:srgbClr val="A8D8CE">
              <a:alpha val="45000"/>
            </a:srgbClr>
          </a:solidFill>
          <a:ln w="12700">
            <a:solidFill>
              <a:srgbClr val="A8D8CE"/>
            </a:solidFill>
            <a:prstDash val="solid"/>
          </a:ln>
        </p:spPr>
      </p:sp>
      <p:sp>
        <p:nvSpPr>
          <p:cNvPr id="6" name="Shape 4"/>
          <p:cNvSpPr/>
          <p:nvPr/>
        </p:nvSpPr>
        <p:spPr>
          <a:xfrm>
            <a:off x="457200" y="932688"/>
            <a:ext cx="8503920" cy="822960"/>
          </a:xfrm>
          <a:prstGeom prst="rect">
            <a:avLst/>
          </a:prstGeom>
          <a:solidFill>
            <a:srgbClr val="162832"/>
          </a:solidFill>
          <a:ln w="12700">
            <a:solidFill>
              <a:srgbClr val="162832"/>
            </a:solidFill>
            <a:prstDash val="solid"/>
          </a:ln>
        </p:spPr>
      </p:sp>
      <p:sp>
        <p:nvSpPr>
          <p:cNvPr id="7" name="Text 5"/>
          <p:cNvSpPr/>
          <p:nvPr/>
        </p:nvSpPr>
        <p:spPr>
          <a:xfrm>
            <a:off x="594360" y="987552"/>
            <a:ext cx="8321040" cy="713232"/>
          </a:xfrm>
          <a:prstGeom prst="rect">
            <a:avLst/>
          </a:prstGeom>
          <a:noFill/>
          <a:ln/>
        </p:spPr>
        <p:txBody>
          <a:bodyPr wrap="square" rtlCol="0" anchor="ctr"/>
          <a:lstStyle/>
          <a:p>
            <a:pPr algn="l" indent="0" marL="0">
              <a:buNone/>
            </a:pPr>
            <a:r>
              <a:rPr lang="en-US" sz="1000" b="1" dirty="0">
                <a:solidFill>
                  <a:srgbClr val="C8943A"/>
                </a:solidFill>
                <a:latin typeface="Calibri" pitchFamily="34" charset="0"/>
                <a:ea typeface="Calibri" pitchFamily="34" charset="-122"/>
                <a:cs typeface="Calibri" pitchFamily="34" charset="-120"/>
              </a:rPr>
              <a:t>Main Objective  </a:t>
            </a:r>
            <a:pPr algn="l" indent="0" marL="0">
              <a:buNone/>
            </a:pPr>
            <a:r>
              <a:rPr lang="en-US" sz="1000" dirty="0">
                <a:solidFill>
                  <a:srgbClr val="FFFFFF"/>
                </a:solidFill>
                <a:latin typeface="Calibri" pitchFamily="34" charset="0"/>
                <a:ea typeface="Calibri" pitchFamily="34" charset="-122"/>
                <a:cs typeface="Calibri" pitchFamily="34" charset="-120"/>
              </a:rPr>
              <a:t>To develop and evaluate a deep learning pipeline for five-class histopathological classification of lung and colon cancer tissue, incorporating stain normalisation, comparing a baseline CNN against EfficientNet-B0 and ResNet-50, and using Grad-CAM to verify model attention aligns with clinically relevant tissue structures.</a:t>
            </a:r>
            <a:endParaRPr lang="en-US" sz="1000" dirty="0"/>
          </a:p>
        </p:txBody>
      </p:sp>
      <p:sp>
        <p:nvSpPr>
          <p:cNvPr id="8" name="Shape 6"/>
          <p:cNvSpPr/>
          <p:nvPr/>
        </p:nvSpPr>
        <p:spPr>
          <a:xfrm>
            <a:off x="457200" y="1993392"/>
            <a:ext cx="292608" cy="292608"/>
          </a:xfrm>
          <a:prstGeom prst="ellipse">
            <a:avLst/>
          </a:prstGeom>
          <a:solidFill>
            <a:srgbClr val="A8D8CE"/>
          </a:solidFill>
          <a:ln w="12700">
            <a:solidFill>
              <a:srgbClr val="2E8B7A"/>
            </a:solidFill>
            <a:prstDash val="solid"/>
          </a:ln>
        </p:spPr>
      </p:sp>
      <p:sp>
        <p:nvSpPr>
          <p:cNvPr id="9" name="Text 7"/>
          <p:cNvSpPr/>
          <p:nvPr/>
        </p:nvSpPr>
        <p:spPr>
          <a:xfrm>
            <a:off x="457200" y="1993392"/>
            <a:ext cx="292608" cy="292608"/>
          </a:xfrm>
          <a:prstGeom prst="rect">
            <a:avLst/>
          </a:prstGeom>
          <a:noFill/>
          <a:ln/>
        </p:spPr>
        <p:txBody>
          <a:bodyPr wrap="square" lIns="0" tIns="0" rIns="0" bIns="0" rtlCol="0" anchor="ctr"/>
          <a:lstStyle/>
          <a:p>
            <a:pPr algn="ctr" indent="0" marL="0">
              <a:buNone/>
            </a:pPr>
            <a:r>
              <a:rPr lang="en-US" sz="900" b="1" dirty="0">
                <a:solidFill>
                  <a:srgbClr val="1A5C4E"/>
                </a:solidFill>
                <a:latin typeface="Calibri" pitchFamily="34" charset="0"/>
                <a:ea typeface="Calibri" pitchFamily="34" charset="-122"/>
                <a:cs typeface="Calibri" pitchFamily="34" charset="-120"/>
              </a:rPr>
              <a:t>1</a:t>
            </a:r>
            <a:endParaRPr lang="en-US" sz="900" dirty="0"/>
          </a:p>
        </p:txBody>
      </p:sp>
      <p:sp>
        <p:nvSpPr>
          <p:cNvPr id="10" name="Text 8"/>
          <p:cNvSpPr/>
          <p:nvPr/>
        </p:nvSpPr>
        <p:spPr>
          <a:xfrm>
            <a:off x="822960" y="1901952"/>
            <a:ext cx="3822192" cy="640080"/>
          </a:xfrm>
          <a:prstGeom prst="rect">
            <a:avLst/>
          </a:prstGeom>
          <a:noFill/>
          <a:ln/>
        </p:spPr>
        <p:txBody>
          <a:bodyPr wrap="square" rtlCol="0" anchor="ctr"/>
          <a:lstStyle/>
          <a:p>
            <a:pPr indent="0" marL="0">
              <a:buNone/>
            </a:pPr>
            <a:r>
              <a:rPr lang="en-US" sz="950" dirty="0">
                <a:solidFill>
                  <a:srgbClr val="2E4A5A"/>
                </a:solidFill>
                <a:latin typeface="Calibri" pitchFamily="34" charset="0"/>
                <a:ea typeface="Calibri" pitchFamily="34" charset="-122"/>
                <a:cs typeface="Calibri" pitchFamily="34" charset="-120"/>
              </a:rPr>
              <a:t>Perform EDA on LC25000 documenting class distribution, image quality, and stain variation</a:t>
            </a:r>
            <a:endParaRPr lang="en-US" sz="950" dirty="0"/>
          </a:p>
        </p:txBody>
      </p:sp>
      <p:sp>
        <p:nvSpPr>
          <p:cNvPr id="11" name="Shape 9"/>
          <p:cNvSpPr/>
          <p:nvPr/>
        </p:nvSpPr>
        <p:spPr>
          <a:xfrm>
            <a:off x="457200" y="2670048"/>
            <a:ext cx="292608" cy="292608"/>
          </a:xfrm>
          <a:prstGeom prst="ellipse">
            <a:avLst/>
          </a:prstGeom>
          <a:solidFill>
            <a:srgbClr val="A8D8CE"/>
          </a:solidFill>
          <a:ln w="12700">
            <a:solidFill>
              <a:srgbClr val="2E8B7A"/>
            </a:solidFill>
            <a:prstDash val="solid"/>
          </a:ln>
        </p:spPr>
      </p:sp>
      <p:sp>
        <p:nvSpPr>
          <p:cNvPr id="12" name="Text 10"/>
          <p:cNvSpPr/>
          <p:nvPr/>
        </p:nvSpPr>
        <p:spPr>
          <a:xfrm>
            <a:off x="457200" y="2670048"/>
            <a:ext cx="292608" cy="292608"/>
          </a:xfrm>
          <a:prstGeom prst="rect">
            <a:avLst/>
          </a:prstGeom>
          <a:noFill/>
          <a:ln/>
        </p:spPr>
        <p:txBody>
          <a:bodyPr wrap="square" lIns="0" tIns="0" rIns="0" bIns="0" rtlCol="0" anchor="ctr"/>
          <a:lstStyle/>
          <a:p>
            <a:pPr algn="ctr" indent="0" marL="0">
              <a:buNone/>
            </a:pPr>
            <a:r>
              <a:rPr lang="en-US" sz="900" b="1" dirty="0">
                <a:solidFill>
                  <a:srgbClr val="1A5C4E"/>
                </a:solidFill>
                <a:latin typeface="Calibri" pitchFamily="34" charset="0"/>
                <a:ea typeface="Calibri" pitchFamily="34" charset="-122"/>
                <a:cs typeface="Calibri" pitchFamily="34" charset="-120"/>
              </a:rPr>
              <a:t>2</a:t>
            </a:r>
            <a:endParaRPr lang="en-US" sz="900" dirty="0"/>
          </a:p>
        </p:txBody>
      </p:sp>
      <p:sp>
        <p:nvSpPr>
          <p:cNvPr id="13" name="Text 11"/>
          <p:cNvSpPr/>
          <p:nvPr/>
        </p:nvSpPr>
        <p:spPr>
          <a:xfrm>
            <a:off x="822960" y="2578608"/>
            <a:ext cx="3822192" cy="640080"/>
          </a:xfrm>
          <a:prstGeom prst="rect">
            <a:avLst/>
          </a:prstGeom>
          <a:noFill/>
          <a:ln/>
        </p:spPr>
        <p:txBody>
          <a:bodyPr wrap="square" rtlCol="0" anchor="ctr"/>
          <a:lstStyle/>
          <a:p>
            <a:pPr indent="0" marL="0">
              <a:buNone/>
            </a:pPr>
            <a:r>
              <a:rPr lang="en-US" sz="950" dirty="0">
                <a:solidFill>
                  <a:srgbClr val="2E4A5A"/>
                </a:solidFill>
                <a:latin typeface="Calibri" pitchFamily="34" charset="0"/>
                <a:ea typeface="Calibri" pitchFamily="34" charset="-122"/>
                <a:cs typeface="Calibri" pitchFamily="34" charset="-120"/>
              </a:rPr>
              <a:t>Preprocess the dataset with and without Macenko stain normalisation and document the effect</a:t>
            </a:r>
            <a:endParaRPr lang="en-US" sz="950" dirty="0"/>
          </a:p>
        </p:txBody>
      </p:sp>
      <p:sp>
        <p:nvSpPr>
          <p:cNvPr id="14" name="Shape 12"/>
          <p:cNvSpPr/>
          <p:nvPr/>
        </p:nvSpPr>
        <p:spPr>
          <a:xfrm>
            <a:off x="457200" y="3346704"/>
            <a:ext cx="292608" cy="292608"/>
          </a:xfrm>
          <a:prstGeom prst="ellipse">
            <a:avLst/>
          </a:prstGeom>
          <a:solidFill>
            <a:srgbClr val="A8D8CE"/>
          </a:solidFill>
          <a:ln w="12700">
            <a:solidFill>
              <a:srgbClr val="2E8B7A"/>
            </a:solidFill>
            <a:prstDash val="solid"/>
          </a:ln>
        </p:spPr>
      </p:sp>
      <p:sp>
        <p:nvSpPr>
          <p:cNvPr id="15" name="Text 13"/>
          <p:cNvSpPr/>
          <p:nvPr/>
        </p:nvSpPr>
        <p:spPr>
          <a:xfrm>
            <a:off x="457200" y="3346704"/>
            <a:ext cx="292608" cy="292608"/>
          </a:xfrm>
          <a:prstGeom prst="rect">
            <a:avLst/>
          </a:prstGeom>
          <a:noFill/>
          <a:ln/>
        </p:spPr>
        <p:txBody>
          <a:bodyPr wrap="square" lIns="0" tIns="0" rIns="0" bIns="0" rtlCol="0" anchor="ctr"/>
          <a:lstStyle/>
          <a:p>
            <a:pPr algn="ctr" indent="0" marL="0">
              <a:buNone/>
            </a:pPr>
            <a:r>
              <a:rPr lang="en-US" sz="900" b="1" dirty="0">
                <a:solidFill>
                  <a:srgbClr val="1A5C4E"/>
                </a:solidFill>
                <a:latin typeface="Calibri" pitchFamily="34" charset="0"/>
                <a:ea typeface="Calibri" pitchFamily="34" charset="-122"/>
                <a:cs typeface="Calibri" pitchFamily="34" charset="-120"/>
              </a:rPr>
              <a:t>3</a:t>
            </a:r>
            <a:endParaRPr lang="en-US" sz="900" dirty="0"/>
          </a:p>
        </p:txBody>
      </p:sp>
      <p:sp>
        <p:nvSpPr>
          <p:cNvPr id="16" name="Text 14"/>
          <p:cNvSpPr/>
          <p:nvPr/>
        </p:nvSpPr>
        <p:spPr>
          <a:xfrm>
            <a:off x="822960" y="3255264"/>
            <a:ext cx="3822192" cy="640080"/>
          </a:xfrm>
          <a:prstGeom prst="rect">
            <a:avLst/>
          </a:prstGeom>
          <a:noFill/>
          <a:ln/>
        </p:spPr>
        <p:txBody>
          <a:bodyPr wrap="square" rtlCol="0" anchor="ctr"/>
          <a:lstStyle/>
          <a:p>
            <a:pPr indent="0" marL="0">
              <a:buNone/>
            </a:pPr>
            <a:r>
              <a:rPr lang="en-US" sz="950" dirty="0">
                <a:solidFill>
                  <a:srgbClr val="2E4A5A"/>
                </a:solidFill>
                <a:latin typeface="Calibri" pitchFamily="34" charset="0"/>
                <a:ea typeface="Calibri" pitchFamily="34" charset="-122"/>
                <a:cs typeface="Calibri" pitchFamily="34" charset="-120"/>
              </a:rPr>
              <a:t>Train a baseline CNN from scratch as a performance reference floor</a:t>
            </a:r>
            <a:endParaRPr lang="en-US" sz="950" dirty="0"/>
          </a:p>
        </p:txBody>
      </p:sp>
      <p:sp>
        <p:nvSpPr>
          <p:cNvPr id="17" name="Shape 15"/>
          <p:cNvSpPr/>
          <p:nvPr/>
        </p:nvSpPr>
        <p:spPr>
          <a:xfrm>
            <a:off x="457200" y="4023360"/>
            <a:ext cx="292608" cy="292608"/>
          </a:xfrm>
          <a:prstGeom prst="ellipse">
            <a:avLst/>
          </a:prstGeom>
          <a:solidFill>
            <a:srgbClr val="A8D8CE"/>
          </a:solidFill>
          <a:ln w="12700">
            <a:solidFill>
              <a:srgbClr val="2E8B7A"/>
            </a:solidFill>
            <a:prstDash val="solid"/>
          </a:ln>
        </p:spPr>
      </p:sp>
      <p:sp>
        <p:nvSpPr>
          <p:cNvPr id="18" name="Text 16"/>
          <p:cNvSpPr/>
          <p:nvPr/>
        </p:nvSpPr>
        <p:spPr>
          <a:xfrm>
            <a:off x="457200" y="4023360"/>
            <a:ext cx="292608" cy="292608"/>
          </a:xfrm>
          <a:prstGeom prst="rect">
            <a:avLst/>
          </a:prstGeom>
          <a:noFill/>
          <a:ln/>
        </p:spPr>
        <p:txBody>
          <a:bodyPr wrap="square" lIns="0" tIns="0" rIns="0" bIns="0" rtlCol="0" anchor="ctr"/>
          <a:lstStyle/>
          <a:p>
            <a:pPr algn="ctr" indent="0" marL="0">
              <a:buNone/>
            </a:pPr>
            <a:r>
              <a:rPr lang="en-US" sz="900" b="1" dirty="0">
                <a:solidFill>
                  <a:srgbClr val="1A5C4E"/>
                </a:solidFill>
                <a:latin typeface="Calibri" pitchFamily="34" charset="0"/>
                <a:ea typeface="Calibri" pitchFamily="34" charset="-122"/>
                <a:cs typeface="Calibri" pitchFamily="34" charset="-120"/>
              </a:rPr>
              <a:t>4</a:t>
            </a:r>
            <a:endParaRPr lang="en-US" sz="900" dirty="0"/>
          </a:p>
        </p:txBody>
      </p:sp>
      <p:sp>
        <p:nvSpPr>
          <p:cNvPr id="19" name="Text 17"/>
          <p:cNvSpPr/>
          <p:nvPr/>
        </p:nvSpPr>
        <p:spPr>
          <a:xfrm>
            <a:off x="822960" y="3931920"/>
            <a:ext cx="3822192" cy="640080"/>
          </a:xfrm>
          <a:prstGeom prst="rect">
            <a:avLst/>
          </a:prstGeom>
          <a:noFill/>
          <a:ln/>
        </p:spPr>
        <p:txBody>
          <a:bodyPr wrap="square" rtlCol="0" anchor="ctr"/>
          <a:lstStyle/>
          <a:p>
            <a:pPr indent="0" marL="0">
              <a:buNone/>
            </a:pPr>
            <a:r>
              <a:rPr lang="en-US" sz="950" dirty="0">
                <a:solidFill>
                  <a:srgbClr val="2E4A5A"/>
                </a:solidFill>
                <a:latin typeface="Calibri" pitchFamily="34" charset="0"/>
                <a:ea typeface="Calibri" pitchFamily="34" charset="-122"/>
                <a:cs typeface="Calibri" pitchFamily="34" charset="-120"/>
              </a:rPr>
              <a:t>Fine-tune EfficientNet-B0 with transfer learning from ImageNet</a:t>
            </a:r>
            <a:endParaRPr lang="en-US" sz="950" dirty="0"/>
          </a:p>
        </p:txBody>
      </p:sp>
      <p:sp>
        <p:nvSpPr>
          <p:cNvPr id="20" name="Shape 18"/>
          <p:cNvSpPr/>
          <p:nvPr/>
        </p:nvSpPr>
        <p:spPr>
          <a:xfrm>
            <a:off x="4754880" y="1993392"/>
            <a:ext cx="292608" cy="292608"/>
          </a:xfrm>
          <a:prstGeom prst="ellipse">
            <a:avLst/>
          </a:prstGeom>
          <a:solidFill>
            <a:srgbClr val="A8D8CE"/>
          </a:solidFill>
          <a:ln w="12700">
            <a:solidFill>
              <a:srgbClr val="2E8B7A"/>
            </a:solidFill>
            <a:prstDash val="solid"/>
          </a:ln>
        </p:spPr>
      </p:sp>
      <p:sp>
        <p:nvSpPr>
          <p:cNvPr id="21" name="Text 19"/>
          <p:cNvSpPr/>
          <p:nvPr/>
        </p:nvSpPr>
        <p:spPr>
          <a:xfrm>
            <a:off x="4754880" y="1993392"/>
            <a:ext cx="292608" cy="292608"/>
          </a:xfrm>
          <a:prstGeom prst="rect">
            <a:avLst/>
          </a:prstGeom>
          <a:noFill/>
          <a:ln/>
        </p:spPr>
        <p:txBody>
          <a:bodyPr wrap="square" lIns="0" tIns="0" rIns="0" bIns="0" rtlCol="0" anchor="ctr"/>
          <a:lstStyle/>
          <a:p>
            <a:pPr algn="ctr" indent="0" marL="0">
              <a:buNone/>
            </a:pPr>
            <a:r>
              <a:rPr lang="en-US" sz="900" b="1" dirty="0">
                <a:solidFill>
                  <a:srgbClr val="1A5C4E"/>
                </a:solidFill>
                <a:latin typeface="Calibri" pitchFamily="34" charset="0"/>
                <a:ea typeface="Calibri" pitchFamily="34" charset="-122"/>
                <a:cs typeface="Calibri" pitchFamily="34" charset="-120"/>
              </a:rPr>
              <a:t>5</a:t>
            </a:r>
            <a:endParaRPr lang="en-US" sz="900" dirty="0"/>
          </a:p>
        </p:txBody>
      </p:sp>
      <p:sp>
        <p:nvSpPr>
          <p:cNvPr id="22" name="Text 20"/>
          <p:cNvSpPr/>
          <p:nvPr/>
        </p:nvSpPr>
        <p:spPr>
          <a:xfrm>
            <a:off x="5120640" y="1901952"/>
            <a:ext cx="3822192" cy="640080"/>
          </a:xfrm>
          <a:prstGeom prst="rect">
            <a:avLst/>
          </a:prstGeom>
          <a:noFill/>
          <a:ln/>
        </p:spPr>
        <p:txBody>
          <a:bodyPr wrap="square" rtlCol="0" anchor="ctr"/>
          <a:lstStyle/>
          <a:p>
            <a:pPr indent="0" marL="0">
              <a:buNone/>
            </a:pPr>
            <a:r>
              <a:rPr lang="en-US" sz="950" dirty="0">
                <a:solidFill>
                  <a:srgbClr val="2E4A5A"/>
                </a:solidFill>
                <a:latin typeface="Calibri" pitchFamily="34" charset="0"/>
                <a:ea typeface="Calibri" pitchFamily="34" charset="-122"/>
                <a:cs typeface="Calibri" pitchFamily="34" charset="-120"/>
              </a:rPr>
              <a:t>Fine-tune ResNet-50 and compare performance against both prior models</a:t>
            </a:r>
            <a:endParaRPr lang="en-US" sz="950" dirty="0"/>
          </a:p>
        </p:txBody>
      </p:sp>
      <p:sp>
        <p:nvSpPr>
          <p:cNvPr id="23" name="Shape 21"/>
          <p:cNvSpPr/>
          <p:nvPr/>
        </p:nvSpPr>
        <p:spPr>
          <a:xfrm>
            <a:off x="4754880" y="2670048"/>
            <a:ext cx="292608" cy="292608"/>
          </a:xfrm>
          <a:prstGeom prst="ellipse">
            <a:avLst/>
          </a:prstGeom>
          <a:solidFill>
            <a:srgbClr val="A8D8CE"/>
          </a:solidFill>
          <a:ln w="12700">
            <a:solidFill>
              <a:srgbClr val="2E8B7A"/>
            </a:solidFill>
            <a:prstDash val="solid"/>
          </a:ln>
        </p:spPr>
      </p:sp>
      <p:sp>
        <p:nvSpPr>
          <p:cNvPr id="24" name="Text 22"/>
          <p:cNvSpPr/>
          <p:nvPr/>
        </p:nvSpPr>
        <p:spPr>
          <a:xfrm>
            <a:off x="4754880" y="2670048"/>
            <a:ext cx="292608" cy="292608"/>
          </a:xfrm>
          <a:prstGeom prst="rect">
            <a:avLst/>
          </a:prstGeom>
          <a:noFill/>
          <a:ln/>
        </p:spPr>
        <p:txBody>
          <a:bodyPr wrap="square" lIns="0" tIns="0" rIns="0" bIns="0" rtlCol="0" anchor="ctr"/>
          <a:lstStyle/>
          <a:p>
            <a:pPr algn="ctr" indent="0" marL="0">
              <a:buNone/>
            </a:pPr>
            <a:r>
              <a:rPr lang="en-US" sz="900" b="1" dirty="0">
                <a:solidFill>
                  <a:srgbClr val="1A5C4E"/>
                </a:solidFill>
                <a:latin typeface="Calibri" pitchFamily="34" charset="0"/>
                <a:ea typeface="Calibri" pitchFamily="34" charset="-122"/>
                <a:cs typeface="Calibri" pitchFamily="34" charset="-120"/>
              </a:rPr>
              <a:t>6</a:t>
            </a:r>
            <a:endParaRPr lang="en-US" sz="900" dirty="0"/>
          </a:p>
        </p:txBody>
      </p:sp>
      <p:sp>
        <p:nvSpPr>
          <p:cNvPr id="25" name="Text 23"/>
          <p:cNvSpPr/>
          <p:nvPr/>
        </p:nvSpPr>
        <p:spPr>
          <a:xfrm>
            <a:off x="5120640" y="2578608"/>
            <a:ext cx="3822192" cy="640080"/>
          </a:xfrm>
          <a:prstGeom prst="rect">
            <a:avLst/>
          </a:prstGeom>
          <a:noFill/>
          <a:ln/>
        </p:spPr>
        <p:txBody>
          <a:bodyPr wrap="square" rtlCol="0" anchor="ctr"/>
          <a:lstStyle/>
          <a:p>
            <a:pPr indent="0" marL="0">
              <a:buNone/>
            </a:pPr>
            <a:r>
              <a:rPr lang="en-US" sz="950" dirty="0">
                <a:solidFill>
                  <a:srgbClr val="2E4A5A"/>
                </a:solidFill>
                <a:latin typeface="Calibri" pitchFamily="34" charset="0"/>
                <a:ea typeface="Calibri" pitchFamily="34" charset="-122"/>
                <a:cs typeface="Calibri" pitchFamily="34" charset="-120"/>
              </a:rPr>
              <a:t>Apply Grad-CAM to the best model and analyse attention against histological markers</a:t>
            </a:r>
            <a:endParaRPr lang="en-US" sz="950" dirty="0"/>
          </a:p>
        </p:txBody>
      </p:sp>
      <p:sp>
        <p:nvSpPr>
          <p:cNvPr id="26" name="Shape 24"/>
          <p:cNvSpPr/>
          <p:nvPr/>
        </p:nvSpPr>
        <p:spPr>
          <a:xfrm>
            <a:off x="4754880" y="3346704"/>
            <a:ext cx="292608" cy="292608"/>
          </a:xfrm>
          <a:prstGeom prst="ellipse">
            <a:avLst/>
          </a:prstGeom>
          <a:solidFill>
            <a:srgbClr val="A8D8CE"/>
          </a:solidFill>
          <a:ln w="12700">
            <a:solidFill>
              <a:srgbClr val="2E8B7A"/>
            </a:solidFill>
            <a:prstDash val="solid"/>
          </a:ln>
        </p:spPr>
      </p:sp>
      <p:sp>
        <p:nvSpPr>
          <p:cNvPr id="27" name="Text 25"/>
          <p:cNvSpPr/>
          <p:nvPr/>
        </p:nvSpPr>
        <p:spPr>
          <a:xfrm>
            <a:off x="4754880" y="3346704"/>
            <a:ext cx="292608" cy="292608"/>
          </a:xfrm>
          <a:prstGeom prst="rect">
            <a:avLst/>
          </a:prstGeom>
          <a:noFill/>
          <a:ln/>
        </p:spPr>
        <p:txBody>
          <a:bodyPr wrap="square" lIns="0" tIns="0" rIns="0" bIns="0" rtlCol="0" anchor="ctr"/>
          <a:lstStyle/>
          <a:p>
            <a:pPr algn="ctr" indent="0" marL="0">
              <a:buNone/>
            </a:pPr>
            <a:r>
              <a:rPr lang="en-US" sz="900" b="1" dirty="0">
                <a:solidFill>
                  <a:srgbClr val="1A5C4E"/>
                </a:solidFill>
                <a:latin typeface="Calibri" pitchFamily="34" charset="0"/>
                <a:ea typeface="Calibri" pitchFamily="34" charset="-122"/>
                <a:cs typeface="Calibri" pitchFamily="34" charset="-120"/>
              </a:rPr>
              <a:t>7</a:t>
            </a:r>
            <a:endParaRPr lang="en-US" sz="900" dirty="0"/>
          </a:p>
        </p:txBody>
      </p:sp>
      <p:sp>
        <p:nvSpPr>
          <p:cNvPr id="28" name="Text 26"/>
          <p:cNvSpPr/>
          <p:nvPr/>
        </p:nvSpPr>
        <p:spPr>
          <a:xfrm>
            <a:off x="5120640" y="3255264"/>
            <a:ext cx="3822192" cy="640080"/>
          </a:xfrm>
          <a:prstGeom prst="rect">
            <a:avLst/>
          </a:prstGeom>
          <a:noFill/>
          <a:ln/>
        </p:spPr>
        <p:txBody>
          <a:bodyPr wrap="square" rtlCol="0" anchor="ctr"/>
          <a:lstStyle/>
          <a:p>
            <a:pPr indent="0" marL="0">
              <a:buNone/>
            </a:pPr>
            <a:r>
              <a:rPr lang="en-US" sz="950" dirty="0">
                <a:solidFill>
                  <a:srgbClr val="2E4A5A"/>
                </a:solidFill>
                <a:latin typeface="Calibri" pitchFamily="34" charset="0"/>
                <a:ea typeface="Calibri" pitchFamily="34" charset="-122"/>
                <a:cs typeface="Calibri" pitchFamily="34" charset="-120"/>
              </a:rPr>
              <a:t>Deploy the best model as a Gradio application on Hugging Face Spaces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237744" cy="5143500"/>
          </a:xfrm>
          <a:prstGeom prst="rect">
            <a:avLst/>
          </a:prstGeom>
          <a:solidFill>
            <a:srgbClr val="162832"/>
          </a:solidFill>
          <a:ln w="12700">
            <a:solidFill>
              <a:srgbClr val="162832"/>
            </a:solidFill>
            <a:prstDash val="solid"/>
          </a:ln>
        </p:spPr>
      </p:sp>
      <p:sp>
        <p:nvSpPr>
          <p:cNvPr id="3" name="Shape 1"/>
          <p:cNvSpPr/>
          <p:nvPr/>
        </p:nvSpPr>
        <p:spPr>
          <a:xfrm>
            <a:off x="237744" y="0"/>
            <a:ext cx="8906256" cy="804672"/>
          </a:xfrm>
          <a:prstGeom prst="rect">
            <a:avLst/>
          </a:prstGeom>
          <a:solidFill>
            <a:srgbClr val="162832"/>
          </a:solidFill>
          <a:ln w="12700">
            <a:solidFill>
              <a:srgbClr val="162832"/>
            </a:solidFill>
            <a:prstDash val="solid"/>
          </a:ln>
        </p:spPr>
      </p:sp>
      <p:sp>
        <p:nvSpPr>
          <p:cNvPr id="4" name="Text 2"/>
          <p:cNvSpPr/>
          <p:nvPr/>
        </p:nvSpPr>
        <p:spPr>
          <a:xfrm>
            <a:off x="475488" y="73152"/>
            <a:ext cx="8321040" cy="658368"/>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Dataset — LC25000</a:t>
            </a:r>
            <a:endParaRPr lang="en-US" sz="1900" dirty="0"/>
          </a:p>
        </p:txBody>
      </p:sp>
      <p:sp>
        <p:nvSpPr>
          <p:cNvPr id="5" name="Shape 3"/>
          <p:cNvSpPr/>
          <p:nvPr/>
        </p:nvSpPr>
        <p:spPr>
          <a:xfrm>
            <a:off x="0" y="4956048"/>
            <a:ext cx="9144000" cy="187452"/>
          </a:xfrm>
          <a:prstGeom prst="rect">
            <a:avLst/>
          </a:prstGeom>
          <a:solidFill>
            <a:srgbClr val="A8D8CE">
              <a:alpha val="45000"/>
            </a:srgbClr>
          </a:solidFill>
          <a:ln w="12700">
            <a:solidFill>
              <a:srgbClr val="A8D8CE"/>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4206240" cy="914400"/>
        </p:xfrm>
        <a:graphic>
          <a:graphicData uri="http://schemas.openxmlformats.org/drawingml/2006/table">
            <a:tbl>
              <a:tblPr/>
              <a:tblGrid>
                <a:gridCol w="1280160"/>
                <a:gridCol w="2011680"/>
                <a:gridCol w="914400"/>
              </a:tblGrid>
              <a:tr h="402336">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Class</a:t>
                      </a:r>
                      <a:endParaRPr lang="en-US" sz="100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Description</a:t>
                      </a:r>
                      <a:endParaRPr lang="en-US" sz="100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Images</a:t>
                      </a:r>
                      <a:endParaRPr lang="en-US" sz="100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r>
              <a:tr h="402336">
                <a:tc>
                  <a:txBody>
                    <a:bodyPr/>
                    <a:lstStyle/>
                    <a:p>
                      <a:pPr indent="0" marL="0">
                        <a:buNone/>
                      </a:pPr>
                      <a:r>
                        <a:rPr lang="en-US" sz="1000" dirty="0">
                          <a:solidFill>
                            <a:srgbClr val="162832"/>
                          </a:solidFill>
                          <a:latin typeface="Calibri" pitchFamily="34" charset="0"/>
                          <a:ea typeface="Calibri" pitchFamily="34" charset="-122"/>
                          <a:cs typeface="Calibri" pitchFamily="34" charset="-120"/>
                        </a:rPr>
                        <a:t>colon_aca</a:t>
                      </a:r>
                      <a:endParaRPr lang="en-US" sz="100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00" dirty="0">
                          <a:solidFill>
                            <a:srgbClr val="162832"/>
                          </a:solidFill>
                          <a:latin typeface="Calibri" pitchFamily="34" charset="0"/>
                          <a:ea typeface="Calibri" pitchFamily="34" charset="-122"/>
                          <a:cs typeface="Calibri" pitchFamily="34" charset="-120"/>
                        </a:rPr>
                        <a:t>Colon adenocarcinoma</a:t>
                      </a:r>
                      <a:endParaRPr lang="en-US" sz="100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00" dirty="0">
                          <a:solidFill>
                            <a:srgbClr val="162832"/>
                          </a:solidFill>
                          <a:latin typeface="Calibri" pitchFamily="34" charset="0"/>
                          <a:ea typeface="Calibri" pitchFamily="34" charset="-122"/>
                          <a:cs typeface="Calibri" pitchFamily="34" charset="-120"/>
                        </a:rPr>
                        <a:t>5,000</a:t>
                      </a:r>
                      <a:endParaRPr lang="en-US" sz="100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r>
              <a:tr h="402336">
                <a:tc>
                  <a:txBody>
                    <a:bodyPr/>
                    <a:lstStyle/>
                    <a:p>
                      <a:pPr indent="0" marL="0">
                        <a:buNone/>
                      </a:pPr>
                      <a:r>
                        <a:rPr lang="en-US" sz="1000" dirty="0">
                          <a:solidFill>
                            <a:srgbClr val="162832"/>
                          </a:solidFill>
                          <a:latin typeface="Calibri" pitchFamily="34" charset="0"/>
                          <a:ea typeface="Calibri" pitchFamily="34" charset="-122"/>
                          <a:cs typeface="Calibri" pitchFamily="34" charset="-120"/>
                        </a:rPr>
                        <a:t>colon_n</a:t>
                      </a:r>
                      <a:endParaRPr lang="en-US" sz="100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00" dirty="0">
                          <a:solidFill>
                            <a:srgbClr val="162832"/>
                          </a:solidFill>
                          <a:latin typeface="Calibri" pitchFamily="34" charset="0"/>
                          <a:ea typeface="Calibri" pitchFamily="34" charset="-122"/>
                          <a:cs typeface="Calibri" pitchFamily="34" charset="-120"/>
                        </a:rPr>
                        <a:t>Benign colonic tissue</a:t>
                      </a:r>
                      <a:endParaRPr lang="en-US" sz="100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00" dirty="0">
                          <a:solidFill>
                            <a:srgbClr val="162832"/>
                          </a:solidFill>
                          <a:latin typeface="Calibri" pitchFamily="34" charset="0"/>
                          <a:ea typeface="Calibri" pitchFamily="34" charset="-122"/>
                          <a:cs typeface="Calibri" pitchFamily="34" charset="-120"/>
                        </a:rPr>
                        <a:t>5,000</a:t>
                      </a:r>
                      <a:endParaRPr lang="en-US" sz="100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r>
              <a:tr h="402336">
                <a:tc>
                  <a:txBody>
                    <a:bodyPr/>
                    <a:lstStyle/>
                    <a:p>
                      <a:pPr indent="0" marL="0">
                        <a:buNone/>
                      </a:pPr>
                      <a:r>
                        <a:rPr lang="en-US" sz="1000" dirty="0">
                          <a:solidFill>
                            <a:srgbClr val="162832"/>
                          </a:solidFill>
                          <a:latin typeface="Calibri" pitchFamily="34" charset="0"/>
                          <a:ea typeface="Calibri" pitchFamily="34" charset="-122"/>
                          <a:cs typeface="Calibri" pitchFamily="34" charset="-120"/>
                        </a:rPr>
                        <a:t>lung_aca</a:t>
                      </a:r>
                      <a:endParaRPr lang="en-US" sz="100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00" dirty="0">
                          <a:solidFill>
                            <a:srgbClr val="162832"/>
                          </a:solidFill>
                          <a:latin typeface="Calibri" pitchFamily="34" charset="0"/>
                          <a:ea typeface="Calibri" pitchFamily="34" charset="-122"/>
                          <a:cs typeface="Calibri" pitchFamily="34" charset="-120"/>
                        </a:rPr>
                        <a:t>Lung adenocarcinoma</a:t>
                      </a:r>
                      <a:endParaRPr lang="en-US" sz="100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00" dirty="0">
                          <a:solidFill>
                            <a:srgbClr val="162832"/>
                          </a:solidFill>
                          <a:latin typeface="Calibri" pitchFamily="34" charset="0"/>
                          <a:ea typeface="Calibri" pitchFamily="34" charset="-122"/>
                          <a:cs typeface="Calibri" pitchFamily="34" charset="-120"/>
                        </a:rPr>
                        <a:t>5,000</a:t>
                      </a:r>
                      <a:endParaRPr lang="en-US" sz="100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r>
              <a:tr h="402336">
                <a:tc>
                  <a:txBody>
                    <a:bodyPr/>
                    <a:lstStyle/>
                    <a:p>
                      <a:pPr indent="0" marL="0">
                        <a:buNone/>
                      </a:pPr>
                      <a:r>
                        <a:rPr lang="en-US" sz="1000" dirty="0">
                          <a:solidFill>
                            <a:srgbClr val="162832"/>
                          </a:solidFill>
                          <a:latin typeface="Calibri" pitchFamily="34" charset="0"/>
                          <a:ea typeface="Calibri" pitchFamily="34" charset="-122"/>
                          <a:cs typeface="Calibri" pitchFamily="34" charset="-120"/>
                        </a:rPr>
                        <a:t>lung_n</a:t>
                      </a:r>
                      <a:endParaRPr lang="en-US" sz="100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00" dirty="0">
                          <a:solidFill>
                            <a:srgbClr val="162832"/>
                          </a:solidFill>
                          <a:latin typeface="Calibri" pitchFamily="34" charset="0"/>
                          <a:ea typeface="Calibri" pitchFamily="34" charset="-122"/>
                          <a:cs typeface="Calibri" pitchFamily="34" charset="-120"/>
                        </a:rPr>
                        <a:t>Benign lung tissue</a:t>
                      </a:r>
                      <a:endParaRPr lang="en-US" sz="100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00" dirty="0">
                          <a:solidFill>
                            <a:srgbClr val="162832"/>
                          </a:solidFill>
                          <a:latin typeface="Calibri" pitchFamily="34" charset="0"/>
                          <a:ea typeface="Calibri" pitchFamily="34" charset="-122"/>
                          <a:cs typeface="Calibri" pitchFamily="34" charset="-120"/>
                        </a:rPr>
                        <a:t>5,000</a:t>
                      </a:r>
                      <a:endParaRPr lang="en-US" sz="100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r>
              <a:tr h="402336">
                <a:tc>
                  <a:txBody>
                    <a:bodyPr/>
                    <a:lstStyle/>
                    <a:p>
                      <a:pPr indent="0" marL="0">
                        <a:buNone/>
                      </a:pPr>
                      <a:r>
                        <a:rPr lang="en-US" sz="1000" dirty="0">
                          <a:solidFill>
                            <a:srgbClr val="162832"/>
                          </a:solidFill>
                          <a:latin typeface="Calibri" pitchFamily="34" charset="0"/>
                          <a:ea typeface="Calibri" pitchFamily="34" charset="-122"/>
                          <a:cs typeface="Calibri" pitchFamily="34" charset="-120"/>
                        </a:rPr>
                        <a:t>lung_scc</a:t>
                      </a:r>
                      <a:endParaRPr lang="en-US" sz="100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00" dirty="0">
                          <a:solidFill>
                            <a:srgbClr val="162832"/>
                          </a:solidFill>
                          <a:latin typeface="Calibri" pitchFamily="34" charset="0"/>
                          <a:ea typeface="Calibri" pitchFamily="34" charset="-122"/>
                          <a:cs typeface="Calibri" pitchFamily="34" charset="-120"/>
                        </a:rPr>
                        <a:t>Lung squamous cell carcinoma</a:t>
                      </a:r>
                      <a:endParaRPr lang="en-US" sz="100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00" dirty="0">
                          <a:solidFill>
                            <a:srgbClr val="162832"/>
                          </a:solidFill>
                          <a:latin typeface="Calibri" pitchFamily="34" charset="0"/>
                          <a:ea typeface="Calibri" pitchFamily="34" charset="-122"/>
                          <a:cs typeface="Calibri" pitchFamily="34" charset="-120"/>
                        </a:rPr>
                        <a:t>5,000</a:t>
                      </a:r>
                      <a:endParaRPr lang="en-US" sz="100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r>
              <a:tr h="402336">
                <a:tc>
                  <a:txBody>
                    <a:bodyPr/>
                    <a:lstStyle/>
                    <a:p>
                      <a:pPr indent="0" marL="0">
                        <a:buNone/>
                      </a:pPr>
                      <a:r>
                        <a:rPr lang="en-US" sz="1000" b="1" dirty="0">
                          <a:solidFill>
                            <a:srgbClr val="162832"/>
                          </a:solidFill>
                          <a:latin typeface="Calibri" pitchFamily="34" charset="0"/>
                          <a:ea typeface="Calibri" pitchFamily="34" charset="-122"/>
                          <a:cs typeface="Calibri" pitchFamily="34" charset="-120"/>
                        </a:rPr>
                        <a:t>Total</a:t>
                      </a:r>
                      <a:endParaRPr lang="en-US" sz="100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00" b="1" dirty="0">
                          <a:solidFill>
                            <a:srgbClr val="162832"/>
                          </a:solidFill>
                          <a:latin typeface="Calibri" pitchFamily="34" charset="0"/>
                          <a:ea typeface="Calibri" pitchFamily="34" charset="-122"/>
                          <a:cs typeface="Calibri" pitchFamily="34" charset="-120"/>
                        </a:rPr>
                        <a:t>5 classes balanced</a:t>
                      </a:r>
                      <a:endParaRPr lang="en-US" sz="100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00" b="1" dirty="0">
                          <a:solidFill>
                            <a:srgbClr val="162832"/>
                          </a:solidFill>
                          <a:latin typeface="Calibri" pitchFamily="34" charset="0"/>
                          <a:ea typeface="Calibri" pitchFamily="34" charset="-122"/>
                          <a:cs typeface="Calibri" pitchFamily="34" charset="-120"/>
                        </a:rPr>
                        <a:t>25,000</a:t>
                      </a:r>
                      <a:endParaRPr lang="en-US" sz="100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r>
            </a:tbl>
          </a:graphicData>
        </a:graphic>
      </p:graphicFrame>
      <p:sp>
        <p:nvSpPr>
          <p:cNvPr id="7" name="Shape 4"/>
          <p:cNvSpPr/>
          <p:nvPr/>
        </p:nvSpPr>
        <p:spPr>
          <a:xfrm>
            <a:off x="457200" y="3840480"/>
            <a:ext cx="4206240" cy="658368"/>
          </a:xfrm>
          <a:prstGeom prst="rect">
            <a:avLst/>
          </a:prstGeom>
          <a:solidFill>
            <a:srgbClr val="E8F5F2"/>
          </a:solidFill>
          <a:ln w="12700">
            <a:solidFill>
              <a:srgbClr val="2E8B7A"/>
            </a:solidFill>
            <a:prstDash val="solid"/>
          </a:ln>
        </p:spPr>
      </p:sp>
      <p:sp>
        <p:nvSpPr>
          <p:cNvPr id="8" name="Text 5"/>
          <p:cNvSpPr/>
          <p:nvPr/>
        </p:nvSpPr>
        <p:spPr>
          <a:xfrm>
            <a:off x="548640" y="3895344"/>
            <a:ext cx="4023360" cy="566928"/>
          </a:xfrm>
          <a:prstGeom prst="rect">
            <a:avLst/>
          </a:prstGeom>
          <a:noFill/>
          <a:ln/>
        </p:spPr>
        <p:txBody>
          <a:bodyPr wrap="square" rtlCol="0" anchor="ctr"/>
          <a:lstStyle/>
          <a:p>
            <a:pPr algn="ctr" indent="0" marL="0">
              <a:buNone/>
            </a:pPr>
            <a:r>
              <a:rPr lang="en-US" sz="950" dirty="0">
                <a:solidFill>
                  <a:srgbClr val="2E4A5A"/>
                </a:solidFill>
                <a:latin typeface="Calibri" pitchFamily="34" charset="0"/>
                <a:ea typeface="Calibri" pitchFamily="34" charset="-122"/>
                <a:cs typeface="Calibri" pitchFamily="34" charset="-120"/>
              </a:rPr>
              <a:t>Split: 70% train (17,500)  |  15% val (3,750)  |  15% test (3,750)</a:t>
            </a:r>
            <a:endParaRPr lang="en-US" sz="950" dirty="0"/>
          </a:p>
          <a:p>
            <a:pPr algn="ctr" indent="0" marL="0">
              <a:buNone/>
            </a:pPr>
            <a:r>
              <a:rPr lang="en-US" sz="950" dirty="0">
                <a:solidFill>
                  <a:srgbClr val="2E4A5A"/>
                </a:solidFill>
                <a:latin typeface="Calibri" pitchFamily="34" charset="0"/>
                <a:ea typeface="Calibri" pitchFamily="34" charset="-122"/>
                <a:cs typeface="Calibri" pitchFamily="34" charset="-120"/>
              </a:rPr>
              <a:t>Stratified — perfectly balanced across all five classes</a:t>
            </a:r>
            <a:endParaRPr lang="en-US" sz="950" dirty="0"/>
          </a:p>
        </p:txBody>
      </p:sp>
      <p:sp>
        <p:nvSpPr>
          <p:cNvPr id="9" name="Text 6"/>
          <p:cNvSpPr/>
          <p:nvPr/>
        </p:nvSpPr>
        <p:spPr>
          <a:xfrm>
            <a:off x="4892040" y="914400"/>
            <a:ext cx="4114800" cy="594360"/>
          </a:xfrm>
          <a:prstGeom prst="rect">
            <a:avLst/>
          </a:prstGeom>
          <a:noFill/>
          <a:ln/>
        </p:spPr>
        <p:txBody>
          <a:bodyPr wrap="square" rtlCol="0" anchor="ctr"/>
          <a:lstStyle/>
          <a:p>
            <a:pPr indent="0" marL="0">
              <a:buNone/>
            </a:pPr>
            <a:r>
              <a:rPr lang="en-US" sz="900" i="1" dirty="0">
                <a:solidFill>
                  <a:srgbClr val="7090A0"/>
                </a:solidFill>
                <a:latin typeface="Calibri" pitchFamily="34" charset="0"/>
                <a:ea typeface="Calibri" pitchFamily="34" charset="-122"/>
                <a:cs typeface="Calibri" pitchFamily="34" charset="-120"/>
              </a:rPr>
              <a:t>Dataset: Borkowski et al. (2019). LC25000 Lung and Colon Cancer Histopathological Image Dataset. arXiv:1912.12142.</a:t>
            </a:r>
            <a:endParaRPr lang="en-US" sz="900" dirty="0"/>
          </a:p>
          <a:p>
            <a:pPr indent="0" marL="0">
              <a:buNone/>
            </a:pPr>
            <a:r>
              <a:rPr lang="en-US" sz="900" i="1" dirty="0">
                <a:solidFill>
                  <a:srgbClr val="7090A0"/>
                </a:solidFill>
                <a:latin typeface="Calibri" pitchFamily="34" charset="0"/>
                <a:ea typeface="Calibri" pitchFamily="34" charset="-122"/>
                <a:cs typeface="Calibri" pitchFamily="34" charset="-120"/>
              </a:rPr>
              <a:t>github.com/tampapath/lung_colon_image_set</a:t>
            </a:r>
            <a:endParaRPr lang="en-US" sz="900" dirty="0"/>
          </a:p>
        </p:txBody>
      </p:sp>
      <p:sp>
        <p:nvSpPr>
          <p:cNvPr id="10" name="Shape 7"/>
          <p:cNvSpPr/>
          <p:nvPr/>
        </p:nvSpPr>
        <p:spPr>
          <a:xfrm>
            <a:off x="4892040" y="1572768"/>
            <a:ext cx="4114800" cy="256032"/>
          </a:xfrm>
          <a:prstGeom prst="rect">
            <a:avLst/>
          </a:prstGeom>
          <a:solidFill>
            <a:srgbClr val="1A5C4E"/>
          </a:solidFill>
          <a:ln w="12700">
            <a:solidFill>
              <a:srgbClr val="1A5C4E"/>
            </a:solidFill>
            <a:prstDash val="solid"/>
          </a:ln>
        </p:spPr>
      </p:sp>
      <p:sp>
        <p:nvSpPr>
          <p:cNvPr id="11" name="Text 8"/>
          <p:cNvSpPr/>
          <p:nvPr/>
        </p:nvSpPr>
        <p:spPr>
          <a:xfrm>
            <a:off x="4983480" y="1572768"/>
            <a:ext cx="393192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Preprocessing notes</a:t>
            </a:r>
            <a:endParaRPr lang="en-US" sz="1000" dirty="0"/>
          </a:p>
        </p:txBody>
      </p:sp>
      <p:sp>
        <p:nvSpPr>
          <p:cNvPr id="12" name="Shape 9"/>
          <p:cNvSpPr/>
          <p:nvPr/>
        </p:nvSpPr>
        <p:spPr>
          <a:xfrm>
            <a:off x="4892040" y="1883664"/>
            <a:ext cx="4114800" cy="384048"/>
          </a:xfrm>
          <a:prstGeom prst="rect">
            <a:avLst/>
          </a:prstGeom>
          <a:solidFill>
            <a:srgbClr val="FFFFFF"/>
          </a:solidFill>
          <a:ln w="6350">
            <a:solidFill>
              <a:srgbClr val="A8D8CE"/>
            </a:solidFill>
            <a:prstDash val="solid"/>
          </a:ln>
        </p:spPr>
      </p:sp>
      <p:sp>
        <p:nvSpPr>
          <p:cNvPr id="13" name="Text 10"/>
          <p:cNvSpPr/>
          <p:nvPr/>
        </p:nvSpPr>
        <p:spPr>
          <a:xfrm>
            <a:off x="5029200" y="1929384"/>
            <a:ext cx="3840480" cy="310896"/>
          </a:xfrm>
          <a:prstGeom prst="rect">
            <a:avLst/>
          </a:prstGeom>
          <a:noFill/>
          <a:ln/>
        </p:spPr>
        <p:txBody>
          <a:bodyPr wrap="square" rtlCol="0" anchor="ctr"/>
          <a:lstStyle/>
          <a:p>
            <a:pPr indent="0" marL="0">
              <a:buNone/>
            </a:pPr>
            <a:r>
              <a:rPr lang="en-US" sz="900" dirty="0">
                <a:solidFill>
                  <a:srgbClr val="2E4A5A"/>
                </a:solidFill>
                <a:latin typeface="Calibri" pitchFamily="34" charset="0"/>
                <a:ea typeface="Calibri" pitchFamily="34" charset="-122"/>
                <a:cs typeface="Calibri" pitchFamily="34" charset="-120"/>
              </a:rPr>
              <a:t>Images resized to 224×224 pixels</a:t>
            </a:r>
            <a:endParaRPr lang="en-US" sz="900" dirty="0"/>
          </a:p>
        </p:txBody>
      </p:sp>
      <p:sp>
        <p:nvSpPr>
          <p:cNvPr id="14" name="Shape 11"/>
          <p:cNvSpPr/>
          <p:nvPr/>
        </p:nvSpPr>
        <p:spPr>
          <a:xfrm>
            <a:off x="4892040" y="2322576"/>
            <a:ext cx="4114800" cy="384048"/>
          </a:xfrm>
          <a:prstGeom prst="rect">
            <a:avLst/>
          </a:prstGeom>
          <a:solidFill>
            <a:srgbClr val="E8F5F2"/>
          </a:solidFill>
          <a:ln w="6350">
            <a:solidFill>
              <a:srgbClr val="A8D8CE"/>
            </a:solidFill>
            <a:prstDash val="solid"/>
          </a:ln>
        </p:spPr>
      </p:sp>
      <p:sp>
        <p:nvSpPr>
          <p:cNvPr id="15" name="Text 12"/>
          <p:cNvSpPr/>
          <p:nvPr/>
        </p:nvSpPr>
        <p:spPr>
          <a:xfrm>
            <a:off x="5029200" y="2368296"/>
            <a:ext cx="3840480" cy="310896"/>
          </a:xfrm>
          <a:prstGeom prst="rect">
            <a:avLst/>
          </a:prstGeom>
          <a:noFill/>
          <a:ln/>
        </p:spPr>
        <p:txBody>
          <a:bodyPr wrap="square" rtlCol="0" anchor="ctr"/>
          <a:lstStyle/>
          <a:p>
            <a:pPr indent="0" marL="0">
              <a:buNone/>
            </a:pPr>
            <a:r>
              <a:rPr lang="en-US" sz="900" dirty="0">
                <a:solidFill>
                  <a:srgbClr val="2E4A5A"/>
                </a:solidFill>
                <a:latin typeface="Calibri" pitchFamily="34" charset="0"/>
                <a:ea typeface="Calibri" pitchFamily="34" charset="-122"/>
                <a:cs typeface="Calibri" pitchFamily="34" charset="-120"/>
              </a:rPr>
              <a:t>Normalised using ImageNet mean and std</a:t>
            </a:r>
            <a:endParaRPr lang="en-US" sz="900" dirty="0"/>
          </a:p>
        </p:txBody>
      </p:sp>
      <p:sp>
        <p:nvSpPr>
          <p:cNvPr id="16" name="Shape 13"/>
          <p:cNvSpPr/>
          <p:nvPr/>
        </p:nvSpPr>
        <p:spPr>
          <a:xfrm>
            <a:off x="4892040" y="2761488"/>
            <a:ext cx="4114800" cy="384048"/>
          </a:xfrm>
          <a:prstGeom prst="rect">
            <a:avLst/>
          </a:prstGeom>
          <a:solidFill>
            <a:srgbClr val="FFFFFF"/>
          </a:solidFill>
          <a:ln w="6350">
            <a:solidFill>
              <a:srgbClr val="A8D8CE"/>
            </a:solidFill>
            <a:prstDash val="solid"/>
          </a:ln>
        </p:spPr>
      </p:sp>
      <p:sp>
        <p:nvSpPr>
          <p:cNvPr id="17" name="Text 14"/>
          <p:cNvSpPr/>
          <p:nvPr/>
        </p:nvSpPr>
        <p:spPr>
          <a:xfrm>
            <a:off x="5029200" y="2807208"/>
            <a:ext cx="3840480" cy="310896"/>
          </a:xfrm>
          <a:prstGeom prst="rect">
            <a:avLst/>
          </a:prstGeom>
          <a:noFill/>
          <a:ln/>
        </p:spPr>
        <p:txBody>
          <a:bodyPr wrap="square" rtlCol="0" anchor="ctr"/>
          <a:lstStyle/>
          <a:p>
            <a:pPr indent="0" marL="0">
              <a:buNone/>
            </a:pPr>
            <a:r>
              <a:rPr lang="en-US" sz="900" dirty="0">
                <a:solidFill>
                  <a:srgbClr val="2E4A5A"/>
                </a:solidFill>
                <a:latin typeface="Calibri" pitchFamily="34" charset="0"/>
                <a:ea typeface="Calibri" pitchFamily="34" charset="-122"/>
                <a:cs typeface="Calibri" pitchFamily="34" charset="-120"/>
              </a:rPr>
              <a:t>Macenko LAB-based stain normalisation applied</a:t>
            </a:r>
            <a:endParaRPr lang="en-US" sz="900" dirty="0"/>
          </a:p>
        </p:txBody>
      </p:sp>
      <p:sp>
        <p:nvSpPr>
          <p:cNvPr id="18" name="Shape 15"/>
          <p:cNvSpPr/>
          <p:nvPr/>
        </p:nvSpPr>
        <p:spPr>
          <a:xfrm>
            <a:off x="4892040" y="3200400"/>
            <a:ext cx="4114800" cy="384048"/>
          </a:xfrm>
          <a:prstGeom prst="rect">
            <a:avLst/>
          </a:prstGeom>
          <a:solidFill>
            <a:srgbClr val="E8F5F2"/>
          </a:solidFill>
          <a:ln w="6350">
            <a:solidFill>
              <a:srgbClr val="A8D8CE"/>
            </a:solidFill>
            <a:prstDash val="solid"/>
          </a:ln>
        </p:spPr>
      </p:sp>
      <p:sp>
        <p:nvSpPr>
          <p:cNvPr id="19" name="Text 16"/>
          <p:cNvSpPr/>
          <p:nvPr/>
        </p:nvSpPr>
        <p:spPr>
          <a:xfrm>
            <a:off x="5029200" y="3246120"/>
            <a:ext cx="3840480" cy="310896"/>
          </a:xfrm>
          <a:prstGeom prst="rect">
            <a:avLst/>
          </a:prstGeom>
          <a:noFill/>
          <a:ln/>
        </p:spPr>
        <p:txBody>
          <a:bodyPr wrap="square" rtlCol="0" anchor="ctr"/>
          <a:lstStyle/>
          <a:p>
            <a:pPr indent="0" marL="0">
              <a:buNone/>
            </a:pPr>
            <a:r>
              <a:rPr lang="en-US" sz="900" dirty="0">
                <a:solidFill>
                  <a:srgbClr val="2E4A5A"/>
                </a:solidFill>
                <a:latin typeface="Calibri" pitchFamily="34" charset="0"/>
                <a:ea typeface="Calibri" pitchFamily="34" charset="-122"/>
                <a:cs typeface="Calibri" pitchFamily="34" charset="-120"/>
              </a:rPr>
              <a:t>Augmentation on training set only: flips, rotation, colour jitter, random crop</a:t>
            </a:r>
            <a:endParaRPr lang="en-US" sz="900" dirty="0"/>
          </a:p>
        </p:txBody>
      </p:sp>
      <p:sp>
        <p:nvSpPr>
          <p:cNvPr id="20" name="Shape 17"/>
          <p:cNvSpPr/>
          <p:nvPr/>
        </p:nvSpPr>
        <p:spPr>
          <a:xfrm>
            <a:off x="4892040" y="3639312"/>
            <a:ext cx="4114800" cy="384048"/>
          </a:xfrm>
          <a:prstGeom prst="rect">
            <a:avLst/>
          </a:prstGeom>
          <a:solidFill>
            <a:srgbClr val="FFFFFF"/>
          </a:solidFill>
          <a:ln w="6350">
            <a:solidFill>
              <a:srgbClr val="A8D8CE"/>
            </a:solidFill>
            <a:prstDash val="solid"/>
          </a:ln>
        </p:spPr>
      </p:sp>
      <p:sp>
        <p:nvSpPr>
          <p:cNvPr id="21" name="Text 18"/>
          <p:cNvSpPr/>
          <p:nvPr/>
        </p:nvSpPr>
        <p:spPr>
          <a:xfrm>
            <a:off x="5029200" y="3685032"/>
            <a:ext cx="3840480" cy="310896"/>
          </a:xfrm>
          <a:prstGeom prst="rect">
            <a:avLst/>
          </a:prstGeom>
          <a:noFill/>
          <a:ln/>
        </p:spPr>
        <p:txBody>
          <a:bodyPr wrap="square" rtlCol="0" anchor="ctr"/>
          <a:lstStyle/>
          <a:p>
            <a:pPr indent="0" marL="0">
              <a:buNone/>
            </a:pPr>
            <a:r>
              <a:rPr lang="en-US" sz="900" dirty="0">
                <a:solidFill>
                  <a:srgbClr val="2E4A5A"/>
                </a:solidFill>
                <a:latin typeface="Calibri" pitchFamily="34" charset="0"/>
                <a:ea typeface="Calibri" pitchFamily="34" charset="-122"/>
                <a:cs typeface="Calibri" pitchFamily="34" charset="-120"/>
              </a:rPr>
              <a:t>staintools unavailable on Colab Python 3.12 — custom numpy/OpenCV implementation used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237744" cy="5143500"/>
          </a:xfrm>
          <a:prstGeom prst="rect">
            <a:avLst/>
          </a:prstGeom>
          <a:solidFill>
            <a:srgbClr val="162832"/>
          </a:solidFill>
          <a:ln w="12700">
            <a:solidFill>
              <a:srgbClr val="162832"/>
            </a:solidFill>
            <a:prstDash val="solid"/>
          </a:ln>
        </p:spPr>
      </p:sp>
      <p:sp>
        <p:nvSpPr>
          <p:cNvPr id="3" name="Shape 1"/>
          <p:cNvSpPr/>
          <p:nvPr/>
        </p:nvSpPr>
        <p:spPr>
          <a:xfrm>
            <a:off x="237744" y="0"/>
            <a:ext cx="8906256" cy="804672"/>
          </a:xfrm>
          <a:prstGeom prst="rect">
            <a:avLst/>
          </a:prstGeom>
          <a:solidFill>
            <a:srgbClr val="162832"/>
          </a:solidFill>
          <a:ln w="12700">
            <a:solidFill>
              <a:srgbClr val="162832"/>
            </a:solidFill>
            <a:prstDash val="solid"/>
          </a:ln>
        </p:spPr>
      </p:sp>
      <p:sp>
        <p:nvSpPr>
          <p:cNvPr id="4" name="Text 2"/>
          <p:cNvSpPr/>
          <p:nvPr/>
        </p:nvSpPr>
        <p:spPr>
          <a:xfrm>
            <a:off x="475488" y="73152"/>
            <a:ext cx="8321040" cy="658368"/>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Methodology — Model Architecture</a:t>
            </a:r>
            <a:endParaRPr lang="en-US" sz="1900" dirty="0"/>
          </a:p>
        </p:txBody>
      </p:sp>
      <p:sp>
        <p:nvSpPr>
          <p:cNvPr id="5" name="Shape 3"/>
          <p:cNvSpPr/>
          <p:nvPr/>
        </p:nvSpPr>
        <p:spPr>
          <a:xfrm>
            <a:off x="0" y="4956048"/>
            <a:ext cx="9144000" cy="187452"/>
          </a:xfrm>
          <a:prstGeom prst="rect">
            <a:avLst/>
          </a:prstGeom>
          <a:solidFill>
            <a:srgbClr val="A8D8CE">
              <a:alpha val="45000"/>
            </a:srgbClr>
          </a:solidFill>
          <a:ln w="12700">
            <a:solidFill>
              <a:srgbClr val="A8D8CE"/>
            </a:solidFill>
            <a:prstDash val="solid"/>
          </a:ln>
        </p:spPr>
      </p:sp>
      <p:sp>
        <p:nvSpPr>
          <p:cNvPr id="6" name="Shape 4"/>
          <p:cNvSpPr/>
          <p:nvPr/>
        </p:nvSpPr>
        <p:spPr>
          <a:xfrm>
            <a:off x="365760" y="914400"/>
            <a:ext cx="2670048" cy="3246120"/>
          </a:xfrm>
          <a:prstGeom prst="rect">
            <a:avLst/>
          </a:prstGeom>
          <a:solidFill>
            <a:srgbClr val="F4F8FA"/>
          </a:solidFill>
          <a:ln w="12700">
            <a:solidFill>
              <a:srgbClr val="A8D8CE"/>
            </a:solidFill>
            <a:prstDash val="solid"/>
          </a:ln>
          <a:effectLst>
            <a:outerShdw sx="100000" sy="100000" kx="0" ky="0" algn="bl" rotWithShape="0" blurRad="76200" dist="25400" dir="8100000">
              <a:srgbClr val="000000">
                <a:alpha val="7000"/>
              </a:srgbClr>
            </a:outerShdw>
          </a:effectLst>
        </p:spPr>
      </p:sp>
      <p:sp>
        <p:nvSpPr>
          <p:cNvPr id="7" name="Shape 5"/>
          <p:cNvSpPr/>
          <p:nvPr/>
        </p:nvSpPr>
        <p:spPr>
          <a:xfrm>
            <a:off x="365760" y="914400"/>
            <a:ext cx="2670048" cy="640080"/>
          </a:xfrm>
          <a:prstGeom prst="rect">
            <a:avLst/>
          </a:prstGeom>
          <a:solidFill>
            <a:srgbClr val="2E4A5A"/>
          </a:solidFill>
          <a:ln w="12700">
            <a:solidFill>
              <a:srgbClr val="2E4A5A"/>
            </a:solidFill>
            <a:prstDash val="solid"/>
          </a:ln>
        </p:spPr>
      </p:sp>
      <p:sp>
        <p:nvSpPr>
          <p:cNvPr id="8" name="Text 6"/>
          <p:cNvSpPr/>
          <p:nvPr/>
        </p:nvSpPr>
        <p:spPr>
          <a:xfrm>
            <a:off x="457200" y="950976"/>
            <a:ext cx="384048" cy="548640"/>
          </a:xfrm>
          <a:prstGeom prst="rect">
            <a:avLst/>
          </a:prstGeom>
          <a:noFill/>
          <a:ln/>
        </p:spPr>
        <p:txBody>
          <a:bodyPr wrap="square" lIns="0" tIns="0" rIns="0" bIns="0" rtlCol="0" anchor="ctr"/>
          <a:lstStyle/>
          <a:p>
            <a:pPr algn="l" indent="0" marL="0">
              <a:buNone/>
            </a:pPr>
            <a:r>
              <a:rPr lang="en-US" sz="1800" b="1" dirty="0">
                <a:solidFill>
                  <a:srgbClr val="A8D8CE"/>
                </a:solidFill>
                <a:latin typeface="Calibri" pitchFamily="34" charset="0"/>
                <a:ea typeface="Calibri" pitchFamily="34" charset="-122"/>
                <a:cs typeface="Calibri" pitchFamily="34" charset="-120"/>
              </a:rPr>
              <a:t>01</a:t>
            </a:r>
            <a:endParaRPr lang="en-US" sz="1800" dirty="0"/>
          </a:p>
        </p:txBody>
      </p:sp>
      <p:sp>
        <p:nvSpPr>
          <p:cNvPr id="9" name="Text 7"/>
          <p:cNvSpPr/>
          <p:nvPr/>
        </p:nvSpPr>
        <p:spPr>
          <a:xfrm>
            <a:off x="868680" y="950976"/>
            <a:ext cx="2103120" cy="566928"/>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Baseline CNN
</a:t>
            </a:r>
            <a:pPr algn="l" indent="0" marL="0">
              <a:buNone/>
            </a:pPr>
            <a:r>
              <a:rPr lang="en-US" sz="900" dirty="0">
                <a:solidFill>
                  <a:srgbClr val="A8D8CE"/>
                </a:solidFill>
                <a:latin typeface="Calibri" pitchFamily="34" charset="0"/>
                <a:ea typeface="Calibri" pitchFamily="34" charset="-122"/>
                <a:cs typeface="Calibri" pitchFamily="34" charset="-120"/>
              </a:rPr>
              <a:t>Trained from scratch</a:t>
            </a:r>
            <a:endParaRPr lang="en-US" sz="1100" dirty="0"/>
          </a:p>
        </p:txBody>
      </p:sp>
      <p:sp>
        <p:nvSpPr>
          <p:cNvPr id="10" name="Text 8"/>
          <p:cNvSpPr/>
          <p:nvPr/>
        </p:nvSpPr>
        <p:spPr>
          <a:xfrm>
            <a:off x="493776" y="1627632"/>
            <a:ext cx="2432304" cy="1554480"/>
          </a:xfrm>
          <a:prstGeom prst="rect">
            <a:avLst/>
          </a:prstGeom>
          <a:noFill/>
          <a:ln/>
        </p:spPr>
        <p:txBody>
          <a:bodyPr wrap="square" rtlCol="0" anchor="ctr"/>
          <a:lstStyle/>
          <a:p>
            <a:pPr marL="342900" indent="-342900">
              <a:buSzPct val="100000"/>
              <a:buChar char="•"/>
            </a:pPr>
            <a:r>
              <a:rPr lang="en-US" sz="950" dirty="0">
                <a:solidFill>
                  <a:srgbClr val="2E4A5A"/>
                </a:solidFill>
                <a:latin typeface="Calibri" pitchFamily="34" charset="0"/>
                <a:ea typeface="Calibri" pitchFamily="34" charset="-122"/>
                <a:cs typeface="Calibri" pitchFamily="34" charset="-120"/>
              </a:rPr>
              <a:t>3 convolutional blocks</a:t>
            </a:r>
            <a:endParaRPr lang="en-US" sz="950" dirty="0"/>
          </a:p>
          <a:p>
            <a:pPr marL="342900" indent="-342900">
              <a:buSzPct val="100000"/>
              <a:buChar char="•"/>
            </a:pPr>
            <a:r>
              <a:rPr lang="en-US" sz="950" dirty="0">
                <a:solidFill>
                  <a:srgbClr val="2E4A5A"/>
                </a:solidFill>
                <a:latin typeface="Calibri" pitchFamily="34" charset="0"/>
                <a:ea typeface="Calibri" pitchFamily="34" charset="-122"/>
                <a:cs typeface="Calibri" pitchFamily="34" charset="-120"/>
              </a:rPr>
              <a:t>Trained from scratch</a:t>
            </a:r>
            <a:endParaRPr lang="en-US" sz="950" dirty="0"/>
          </a:p>
          <a:p>
            <a:pPr marL="342900" indent="-342900">
              <a:buSzPct val="100000"/>
              <a:buChar char="•"/>
            </a:pPr>
            <a:r>
              <a:rPr lang="en-US" sz="950" dirty="0">
                <a:solidFill>
                  <a:srgbClr val="2E4A5A"/>
                </a:solidFill>
                <a:latin typeface="Calibri" pitchFamily="34" charset="0"/>
                <a:ea typeface="Calibri" pitchFamily="34" charset="-122"/>
                <a:cs typeface="Calibri" pitchFamily="34" charset="-120"/>
              </a:rPr>
              <a:t>No pretrained knowledge</a:t>
            </a:r>
            <a:endParaRPr lang="en-US" sz="950" dirty="0"/>
          </a:p>
          <a:p>
            <a:pPr marL="342900" indent="-342900">
              <a:buSzPct val="100000"/>
              <a:buChar char="•"/>
            </a:pPr>
            <a:r>
              <a:rPr lang="en-US" sz="950" dirty="0">
                <a:solidFill>
                  <a:srgbClr val="2E4A5A"/>
                </a:solidFill>
                <a:latin typeface="Calibri" pitchFamily="34" charset="0"/>
                <a:ea typeface="Calibri" pitchFamily="34" charset="-122"/>
                <a:cs typeface="Calibri" pitchFamily="34" charset="-120"/>
              </a:rPr>
              <a:t>Establishes performance floor</a:t>
            </a:r>
            <a:endParaRPr lang="en-US" sz="950" dirty="0"/>
          </a:p>
        </p:txBody>
      </p:sp>
      <p:sp>
        <p:nvSpPr>
          <p:cNvPr id="11" name="Shape 9"/>
          <p:cNvSpPr/>
          <p:nvPr/>
        </p:nvSpPr>
        <p:spPr>
          <a:xfrm>
            <a:off x="3218688" y="914400"/>
            <a:ext cx="2670048" cy="3246120"/>
          </a:xfrm>
          <a:prstGeom prst="rect">
            <a:avLst/>
          </a:prstGeom>
          <a:solidFill>
            <a:srgbClr val="F4F8FA"/>
          </a:solidFill>
          <a:ln w="12700">
            <a:solidFill>
              <a:srgbClr val="A8D8CE"/>
            </a:solidFill>
            <a:prstDash val="solid"/>
          </a:ln>
          <a:effectLst>
            <a:outerShdw sx="100000" sy="100000" kx="0" ky="0" algn="bl" rotWithShape="0" blurRad="76200" dist="25400" dir="8100000">
              <a:srgbClr val="000000">
                <a:alpha val="7000"/>
              </a:srgbClr>
            </a:outerShdw>
          </a:effectLst>
        </p:spPr>
      </p:sp>
      <p:sp>
        <p:nvSpPr>
          <p:cNvPr id="12" name="Shape 10"/>
          <p:cNvSpPr/>
          <p:nvPr/>
        </p:nvSpPr>
        <p:spPr>
          <a:xfrm>
            <a:off x="3218688" y="914400"/>
            <a:ext cx="2670048" cy="640080"/>
          </a:xfrm>
          <a:prstGeom prst="rect">
            <a:avLst/>
          </a:prstGeom>
          <a:solidFill>
            <a:srgbClr val="1A5C4E"/>
          </a:solidFill>
          <a:ln w="12700">
            <a:solidFill>
              <a:srgbClr val="1A5C4E"/>
            </a:solidFill>
            <a:prstDash val="solid"/>
          </a:ln>
        </p:spPr>
      </p:sp>
      <p:sp>
        <p:nvSpPr>
          <p:cNvPr id="13" name="Text 11"/>
          <p:cNvSpPr/>
          <p:nvPr/>
        </p:nvSpPr>
        <p:spPr>
          <a:xfrm>
            <a:off x="3310128" y="950976"/>
            <a:ext cx="384048" cy="548640"/>
          </a:xfrm>
          <a:prstGeom prst="rect">
            <a:avLst/>
          </a:prstGeom>
          <a:noFill/>
          <a:ln/>
        </p:spPr>
        <p:txBody>
          <a:bodyPr wrap="square" lIns="0" tIns="0" rIns="0" bIns="0" rtlCol="0" anchor="ctr"/>
          <a:lstStyle/>
          <a:p>
            <a:pPr algn="l" indent="0" marL="0">
              <a:buNone/>
            </a:pPr>
            <a:r>
              <a:rPr lang="en-US" sz="1800" b="1" dirty="0">
                <a:solidFill>
                  <a:srgbClr val="A8D8CE"/>
                </a:solidFill>
                <a:latin typeface="Calibri" pitchFamily="34" charset="0"/>
                <a:ea typeface="Calibri" pitchFamily="34" charset="-122"/>
                <a:cs typeface="Calibri" pitchFamily="34" charset="-120"/>
              </a:rPr>
              <a:t>02</a:t>
            </a:r>
            <a:endParaRPr lang="en-US" sz="1800" dirty="0"/>
          </a:p>
        </p:txBody>
      </p:sp>
      <p:sp>
        <p:nvSpPr>
          <p:cNvPr id="14" name="Text 12"/>
          <p:cNvSpPr/>
          <p:nvPr/>
        </p:nvSpPr>
        <p:spPr>
          <a:xfrm>
            <a:off x="3721608" y="950976"/>
            <a:ext cx="2103120" cy="566928"/>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EfficientNet-B0
</a:t>
            </a:r>
            <a:pPr algn="l" indent="0" marL="0">
              <a:buNone/>
            </a:pPr>
            <a:r>
              <a:rPr lang="en-US" sz="900" dirty="0">
                <a:solidFill>
                  <a:srgbClr val="A8D8CE"/>
                </a:solidFill>
                <a:latin typeface="Calibri" pitchFamily="34" charset="0"/>
                <a:ea typeface="Calibri" pitchFamily="34" charset="-122"/>
                <a:cs typeface="Calibri" pitchFamily="34" charset="-120"/>
              </a:rPr>
              <a:t>Transfer learning</a:t>
            </a:r>
            <a:endParaRPr lang="en-US" sz="1100" dirty="0"/>
          </a:p>
        </p:txBody>
      </p:sp>
      <p:sp>
        <p:nvSpPr>
          <p:cNvPr id="15" name="Text 13"/>
          <p:cNvSpPr/>
          <p:nvPr/>
        </p:nvSpPr>
        <p:spPr>
          <a:xfrm>
            <a:off x="3346704" y="1627632"/>
            <a:ext cx="2432304" cy="1554480"/>
          </a:xfrm>
          <a:prstGeom prst="rect">
            <a:avLst/>
          </a:prstGeom>
          <a:noFill/>
          <a:ln/>
        </p:spPr>
        <p:txBody>
          <a:bodyPr wrap="square" rtlCol="0" anchor="ctr"/>
          <a:lstStyle/>
          <a:p>
            <a:pPr marL="342900" indent="-342900">
              <a:buSzPct val="100000"/>
              <a:buChar char="•"/>
            </a:pPr>
            <a:r>
              <a:rPr lang="en-US" sz="950" dirty="0">
                <a:solidFill>
                  <a:srgbClr val="2E4A5A"/>
                </a:solidFill>
                <a:latin typeface="Calibri" pitchFamily="34" charset="0"/>
                <a:ea typeface="Calibri" pitchFamily="34" charset="-122"/>
                <a:cs typeface="Calibri" pitchFamily="34" charset="-120"/>
              </a:rPr>
              <a:t>ImageNet pretrained</a:t>
            </a:r>
            <a:endParaRPr lang="en-US" sz="950" dirty="0"/>
          </a:p>
          <a:p>
            <a:pPr marL="342900" indent="-342900">
              <a:buSzPct val="100000"/>
              <a:buChar char="•"/>
            </a:pPr>
            <a:r>
              <a:rPr lang="en-US" sz="950" dirty="0">
                <a:solidFill>
                  <a:srgbClr val="2E4A5A"/>
                </a:solidFill>
                <a:latin typeface="Calibri" pitchFamily="34" charset="0"/>
                <a:ea typeface="Calibri" pitchFamily="34" charset="-122"/>
                <a:cs typeface="Calibri" pitchFamily="34" charset="-120"/>
              </a:rPr>
              <a:t>4.0M parameters</a:t>
            </a:r>
            <a:endParaRPr lang="en-US" sz="950" dirty="0"/>
          </a:p>
          <a:p>
            <a:pPr marL="342900" indent="-342900">
              <a:buSzPct val="100000"/>
              <a:buChar char="•"/>
            </a:pPr>
            <a:r>
              <a:rPr lang="en-US" sz="950" dirty="0">
                <a:solidFill>
                  <a:srgbClr val="2E4A5A"/>
                </a:solidFill>
                <a:latin typeface="Calibri" pitchFamily="34" charset="0"/>
                <a:ea typeface="Calibri" pitchFamily="34" charset="-122"/>
                <a:cs typeface="Calibri" pitchFamily="34" charset="-120"/>
              </a:rPr>
              <a:t>Compound scaling design</a:t>
            </a:r>
            <a:endParaRPr lang="en-US" sz="950" dirty="0"/>
          </a:p>
          <a:p>
            <a:pPr marL="342900" indent="-342900">
              <a:buSzPct val="100000"/>
              <a:buChar char="•"/>
            </a:pPr>
            <a:r>
              <a:rPr lang="en-US" sz="950" dirty="0">
                <a:solidFill>
                  <a:srgbClr val="2E4A5A"/>
                </a:solidFill>
                <a:latin typeface="Calibri" pitchFamily="34" charset="0"/>
                <a:ea typeface="Calibri" pitchFamily="34" charset="-122"/>
                <a:cs typeface="Calibri" pitchFamily="34" charset="-120"/>
              </a:rPr>
              <a:t>Two-phase fine-tuning</a:t>
            </a:r>
            <a:endParaRPr lang="en-US" sz="950" dirty="0"/>
          </a:p>
        </p:txBody>
      </p:sp>
      <p:sp>
        <p:nvSpPr>
          <p:cNvPr id="16" name="Shape 14"/>
          <p:cNvSpPr/>
          <p:nvPr/>
        </p:nvSpPr>
        <p:spPr>
          <a:xfrm>
            <a:off x="6071616" y="914400"/>
            <a:ext cx="2670048" cy="3246120"/>
          </a:xfrm>
          <a:prstGeom prst="rect">
            <a:avLst/>
          </a:prstGeom>
          <a:solidFill>
            <a:srgbClr val="F4F8FA"/>
          </a:solidFill>
          <a:ln w="12700">
            <a:solidFill>
              <a:srgbClr val="A8D8CE"/>
            </a:solidFill>
            <a:prstDash val="solid"/>
          </a:ln>
          <a:effectLst>
            <a:outerShdw sx="100000" sy="100000" kx="0" ky="0" algn="bl" rotWithShape="0" blurRad="76200" dist="25400" dir="8100000">
              <a:srgbClr val="000000">
                <a:alpha val="7000"/>
              </a:srgbClr>
            </a:outerShdw>
          </a:effectLst>
        </p:spPr>
      </p:sp>
      <p:sp>
        <p:nvSpPr>
          <p:cNvPr id="17" name="Shape 15"/>
          <p:cNvSpPr/>
          <p:nvPr/>
        </p:nvSpPr>
        <p:spPr>
          <a:xfrm>
            <a:off x="6071616" y="914400"/>
            <a:ext cx="2670048" cy="640080"/>
          </a:xfrm>
          <a:prstGeom prst="rect">
            <a:avLst/>
          </a:prstGeom>
          <a:solidFill>
            <a:srgbClr val="162832"/>
          </a:solidFill>
          <a:ln w="12700">
            <a:solidFill>
              <a:srgbClr val="162832"/>
            </a:solidFill>
            <a:prstDash val="solid"/>
          </a:ln>
        </p:spPr>
      </p:sp>
      <p:sp>
        <p:nvSpPr>
          <p:cNvPr id="18" name="Text 16"/>
          <p:cNvSpPr/>
          <p:nvPr/>
        </p:nvSpPr>
        <p:spPr>
          <a:xfrm>
            <a:off x="6163056" y="950976"/>
            <a:ext cx="384048" cy="548640"/>
          </a:xfrm>
          <a:prstGeom prst="rect">
            <a:avLst/>
          </a:prstGeom>
          <a:noFill/>
          <a:ln/>
        </p:spPr>
        <p:txBody>
          <a:bodyPr wrap="square" lIns="0" tIns="0" rIns="0" bIns="0" rtlCol="0" anchor="ctr"/>
          <a:lstStyle/>
          <a:p>
            <a:pPr algn="l" indent="0" marL="0">
              <a:buNone/>
            </a:pPr>
            <a:r>
              <a:rPr lang="en-US" sz="1800" b="1" dirty="0">
                <a:solidFill>
                  <a:srgbClr val="A8D8CE"/>
                </a:solidFill>
                <a:latin typeface="Calibri" pitchFamily="34" charset="0"/>
                <a:ea typeface="Calibri" pitchFamily="34" charset="-122"/>
                <a:cs typeface="Calibri" pitchFamily="34" charset="-120"/>
              </a:rPr>
              <a:t>03</a:t>
            </a:r>
            <a:endParaRPr lang="en-US" sz="1800" dirty="0"/>
          </a:p>
        </p:txBody>
      </p:sp>
      <p:sp>
        <p:nvSpPr>
          <p:cNvPr id="19" name="Text 17"/>
          <p:cNvSpPr/>
          <p:nvPr/>
        </p:nvSpPr>
        <p:spPr>
          <a:xfrm>
            <a:off x="6574536" y="950976"/>
            <a:ext cx="2103120" cy="566928"/>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ResNet-50  ★ Best
</a:t>
            </a:r>
            <a:pPr algn="l" indent="0" marL="0">
              <a:buNone/>
            </a:pPr>
            <a:r>
              <a:rPr lang="en-US" sz="900" dirty="0">
                <a:solidFill>
                  <a:srgbClr val="A8D8CE"/>
                </a:solidFill>
                <a:latin typeface="Calibri" pitchFamily="34" charset="0"/>
                <a:ea typeface="Calibri" pitchFamily="34" charset="-122"/>
                <a:cs typeface="Calibri" pitchFamily="34" charset="-120"/>
              </a:rPr>
              <a:t>Transfer learning</a:t>
            </a:r>
            <a:endParaRPr lang="en-US" sz="1100" dirty="0"/>
          </a:p>
        </p:txBody>
      </p:sp>
      <p:sp>
        <p:nvSpPr>
          <p:cNvPr id="20" name="Text 18"/>
          <p:cNvSpPr/>
          <p:nvPr/>
        </p:nvSpPr>
        <p:spPr>
          <a:xfrm>
            <a:off x="6199632" y="1627632"/>
            <a:ext cx="2432304" cy="1554480"/>
          </a:xfrm>
          <a:prstGeom prst="rect">
            <a:avLst/>
          </a:prstGeom>
          <a:noFill/>
          <a:ln/>
        </p:spPr>
        <p:txBody>
          <a:bodyPr wrap="square" rtlCol="0" anchor="ctr"/>
          <a:lstStyle/>
          <a:p>
            <a:pPr marL="342900" indent="-342900">
              <a:buSzPct val="100000"/>
              <a:buChar char="•"/>
            </a:pPr>
            <a:r>
              <a:rPr lang="en-US" sz="950" dirty="0">
                <a:solidFill>
                  <a:srgbClr val="2E4A5A"/>
                </a:solidFill>
                <a:latin typeface="Calibri" pitchFamily="34" charset="0"/>
                <a:ea typeface="Calibri" pitchFamily="34" charset="-122"/>
                <a:cs typeface="Calibri" pitchFamily="34" charset="-120"/>
              </a:rPr>
              <a:t>ImageNet pretrained</a:t>
            </a:r>
            <a:endParaRPr lang="en-US" sz="950" dirty="0"/>
          </a:p>
          <a:p>
            <a:pPr marL="342900" indent="-342900">
              <a:buSzPct val="100000"/>
              <a:buChar char="•"/>
            </a:pPr>
            <a:r>
              <a:rPr lang="en-US" sz="950" dirty="0">
                <a:solidFill>
                  <a:srgbClr val="2E4A5A"/>
                </a:solidFill>
                <a:latin typeface="Calibri" pitchFamily="34" charset="0"/>
                <a:ea typeface="Calibri" pitchFamily="34" charset="-122"/>
                <a:cs typeface="Calibri" pitchFamily="34" charset="-120"/>
              </a:rPr>
              <a:t>23.5M parameters</a:t>
            </a:r>
            <a:endParaRPr lang="en-US" sz="950" dirty="0"/>
          </a:p>
          <a:p>
            <a:pPr marL="342900" indent="-342900">
              <a:buSzPct val="100000"/>
              <a:buChar char="•"/>
            </a:pPr>
            <a:r>
              <a:rPr lang="en-US" sz="950" dirty="0">
                <a:solidFill>
                  <a:srgbClr val="2E4A5A"/>
                </a:solidFill>
                <a:latin typeface="Calibri" pitchFamily="34" charset="0"/>
                <a:ea typeface="Calibri" pitchFamily="34" charset="-122"/>
                <a:cs typeface="Calibri" pitchFamily="34" charset="-120"/>
              </a:rPr>
              <a:t>Residual connections</a:t>
            </a:r>
            <a:endParaRPr lang="en-US" sz="950" dirty="0"/>
          </a:p>
          <a:p>
            <a:pPr marL="342900" indent="-342900">
              <a:buSzPct val="100000"/>
              <a:buChar char="•"/>
            </a:pPr>
            <a:r>
              <a:rPr lang="en-US" sz="950" dirty="0">
                <a:solidFill>
                  <a:srgbClr val="2E4A5A"/>
                </a:solidFill>
                <a:latin typeface="Calibri" pitchFamily="34" charset="0"/>
                <a:ea typeface="Calibri" pitchFamily="34" charset="-122"/>
                <a:cs typeface="Calibri" pitchFamily="34" charset="-120"/>
              </a:rPr>
              <a:t>99.87% test accuracy</a:t>
            </a:r>
            <a:endParaRPr lang="en-US" sz="950" dirty="0"/>
          </a:p>
        </p:txBody>
      </p:sp>
      <p:sp>
        <p:nvSpPr>
          <p:cNvPr id="21" name="Shape 19"/>
          <p:cNvSpPr/>
          <p:nvPr/>
        </p:nvSpPr>
        <p:spPr>
          <a:xfrm>
            <a:off x="365760" y="4251960"/>
            <a:ext cx="8503920" cy="384048"/>
          </a:xfrm>
          <a:prstGeom prst="rect">
            <a:avLst/>
          </a:prstGeom>
          <a:solidFill>
            <a:srgbClr val="FDF3DC"/>
          </a:solidFill>
          <a:ln w="10160">
            <a:solidFill>
              <a:srgbClr val="C8943A"/>
            </a:solidFill>
            <a:prstDash val="solid"/>
          </a:ln>
        </p:spPr>
      </p:sp>
      <p:sp>
        <p:nvSpPr>
          <p:cNvPr id="22" name="Text 20"/>
          <p:cNvSpPr/>
          <p:nvPr/>
        </p:nvSpPr>
        <p:spPr>
          <a:xfrm>
            <a:off x="502920" y="4270248"/>
            <a:ext cx="8321040" cy="347472"/>
          </a:xfrm>
          <a:prstGeom prst="rect">
            <a:avLst/>
          </a:prstGeom>
          <a:noFill/>
          <a:ln/>
        </p:spPr>
        <p:txBody>
          <a:bodyPr wrap="square" rtlCol="0" anchor="ctr"/>
          <a:lstStyle/>
          <a:p>
            <a:pPr indent="0" marL="0">
              <a:buNone/>
            </a:pPr>
            <a:r>
              <a:rPr lang="en-US" sz="950" i="1" dirty="0">
                <a:solidFill>
                  <a:srgbClr val="162832"/>
                </a:solidFill>
                <a:latin typeface="Calibri" pitchFamily="34" charset="0"/>
                <a:ea typeface="Calibri" pitchFamily="34" charset="-122"/>
                <a:cs typeface="Calibri" pitchFamily="34" charset="-120"/>
              </a:rPr>
              <a:t>Why transfer learning?  Only 17,500 training images per model — ImageNet features eliminate the need to learn visual representations from scratch on a limited medical dataset.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237744" cy="5143500"/>
          </a:xfrm>
          <a:prstGeom prst="rect">
            <a:avLst/>
          </a:prstGeom>
          <a:solidFill>
            <a:srgbClr val="162832"/>
          </a:solidFill>
          <a:ln w="12700">
            <a:solidFill>
              <a:srgbClr val="162832"/>
            </a:solidFill>
            <a:prstDash val="solid"/>
          </a:ln>
        </p:spPr>
      </p:sp>
      <p:sp>
        <p:nvSpPr>
          <p:cNvPr id="3" name="Shape 1"/>
          <p:cNvSpPr/>
          <p:nvPr/>
        </p:nvSpPr>
        <p:spPr>
          <a:xfrm>
            <a:off x="237744" y="0"/>
            <a:ext cx="8906256" cy="804672"/>
          </a:xfrm>
          <a:prstGeom prst="rect">
            <a:avLst/>
          </a:prstGeom>
          <a:solidFill>
            <a:srgbClr val="162832"/>
          </a:solidFill>
          <a:ln w="12700">
            <a:solidFill>
              <a:srgbClr val="162832"/>
            </a:solidFill>
            <a:prstDash val="solid"/>
          </a:ln>
        </p:spPr>
      </p:sp>
      <p:sp>
        <p:nvSpPr>
          <p:cNvPr id="4" name="Text 2"/>
          <p:cNvSpPr/>
          <p:nvPr/>
        </p:nvSpPr>
        <p:spPr>
          <a:xfrm>
            <a:off x="475488" y="73152"/>
            <a:ext cx="8321040" cy="658368"/>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Results — Model Comparison</a:t>
            </a:r>
            <a:endParaRPr lang="en-US" sz="1900" dirty="0"/>
          </a:p>
        </p:txBody>
      </p:sp>
      <p:sp>
        <p:nvSpPr>
          <p:cNvPr id="5" name="Shape 3"/>
          <p:cNvSpPr/>
          <p:nvPr/>
        </p:nvSpPr>
        <p:spPr>
          <a:xfrm>
            <a:off x="0" y="4956048"/>
            <a:ext cx="9144000" cy="187452"/>
          </a:xfrm>
          <a:prstGeom prst="rect">
            <a:avLst/>
          </a:prstGeom>
          <a:solidFill>
            <a:srgbClr val="A8D8CE">
              <a:alpha val="45000"/>
            </a:srgbClr>
          </a:solidFill>
          <a:ln w="12700">
            <a:solidFill>
              <a:srgbClr val="A8D8CE"/>
            </a:solidFill>
            <a:prstDash val="solid"/>
          </a:ln>
        </p:spPr>
      </p:sp>
      <p:sp>
        <p:nvSpPr>
          <p:cNvPr id="6" name="Shape 4"/>
          <p:cNvSpPr/>
          <p:nvPr/>
        </p:nvSpPr>
        <p:spPr>
          <a:xfrm>
            <a:off x="457200" y="914400"/>
            <a:ext cx="1737360" cy="804672"/>
          </a:xfrm>
          <a:prstGeom prst="rect">
            <a:avLst/>
          </a:prstGeom>
          <a:solidFill>
            <a:srgbClr val="162832"/>
          </a:solidFill>
          <a:ln w="12700">
            <a:solidFill>
              <a:srgbClr val="162832"/>
            </a:solidFill>
            <a:prstDash val="solid"/>
          </a:ln>
          <a:effectLst>
            <a:outerShdw sx="100000" sy="100000" kx="0" ky="0" algn="bl" rotWithShape="0" blurRad="63500" dist="25400" dir="8100000">
              <a:srgbClr val="000000">
                <a:alpha val="10000"/>
              </a:srgbClr>
            </a:outerShdw>
          </a:effectLst>
        </p:spPr>
      </p:sp>
      <p:sp>
        <p:nvSpPr>
          <p:cNvPr id="7" name="Text 5"/>
          <p:cNvSpPr/>
          <p:nvPr/>
        </p:nvSpPr>
        <p:spPr>
          <a:xfrm>
            <a:off x="457200" y="969264"/>
            <a:ext cx="1737360" cy="450616"/>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99.87%</a:t>
            </a:r>
            <a:endParaRPr lang="en-US" sz="2400" dirty="0"/>
          </a:p>
        </p:txBody>
      </p:sp>
      <p:sp>
        <p:nvSpPr>
          <p:cNvPr id="8" name="Text 6"/>
          <p:cNvSpPr/>
          <p:nvPr/>
        </p:nvSpPr>
        <p:spPr>
          <a:xfrm>
            <a:off x="457200" y="1381110"/>
            <a:ext cx="1737360" cy="305775"/>
          </a:xfrm>
          <a:prstGeom prst="rect">
            <a:avLst/>
          </a:prstGeom>
          <a:noFill/>
          <a:ln/>
        </p:spPr>
        <p:txBody>
          <a:bodyPr wrap="square" lIns="0" tIns="0" rIns="0" bIns="0" rtlCol="0" anchor="t"/>
          <a:lstStyle/>
          <a:p>
            <a:pPr algn="ctr" indent="0" marL="0">
              <a:buNone/>
            </a:pPr>
            <a:r>
              <a:rPr lang="en-US" sz="900" dirty="0">
                <a:solidFill>
                  <a:srgbClr val="A8D8CE"/>
                </a:solidFill>
                <a:latin typeface="Calibri" pitchFamily="34" charset="0"/>
                <a:ea typeface="Calibri" pitchFamily="34" charset="-122"/>
                <a:cs typeface="Calibri" pitchFamily="34" charset="-120"/>
              </a:rPr>
              <a:t>Test Accuracy</a:t>
            </a:r>
            <a:endParaRPr lang="en-US" sz="900" dirty="0"/>
          </a:p>
        </p:txBody>
      </p:sp>
      <p:sp>
        <p:nvSpPr>
          <p:cNvPr id="9" name="Shape 7"/>
          <p:cNvSpPr/>
          <p:nvPr/>
        </p:nvSpPr>
        <p:spPr>
          <a:xfrm>
            <a:off x="2743200" y="914400"/>
            <a:ext cx="1737360" cy="804672"/>
          </a:xfrm>
          <a:prstGeom prst="rect">
            <a:avLst/>
          </a:prstGeom>
          <a:solidFill>
            <a:srgbClr val="162832"/>
          </a:solidFill>
          <a:ln w="12700">
            <a:solidFill>
              <a:srgbClr val="162832"/>
            </a:solidFill>
            <a:prstDash val="solid"/>
          </a:ln>
          <a:effectLst>
            <a:outerShdw sx="100000" sy="100000" kx="0" ky="0" algn="bl" rotWithShape="0" blurRad="63500" dist="25400" dir="8100000">
              <a:srgbClr val="000000">
                <a:alpha val="10000"/>
              </a:srgbClr>
            </a:outerShdw>
          </a:effectLst>
        </p:spPr>
      </p:sp>
      <p:sp>
        <p:nvSpPr>
          <p:cNvPr id="10" name="Text 8"/>
          <p:cNvSpPr/>
          <p:nvPr/>
        </p:nvSpPr>
        <p:spPr>
          <a:xfrm>
            <a:off x="2743200" y="969264"/>
            <a:ext cx="1737360" cy="450616"/>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~1.00</a:t>
            </a:r>
            <a:endParaRPr lang="en-US" sz="2400" dirty="0"/>
          </a:p>
        </p:txBody>
      </p:sp>
      <p:sp>
        <p:nvSpPr>
          <p:cNvPr id="11" name="Text 9"/>
          <p:cNvSpPr/>
          <p:nvPr/>
        </p:nvSpPr>
        <p:spPr>
          <a:xfrm>
            <a:off x="2743200" y="1381110"/>
            <a:ext cx="1737360" cy="305775"/>
          </a:xfrm>
          <a:prstGeom prst="rect">
            <a:avLst/>
          </a:prstGeom>
          <a:noFill/>
          <a:ln/>
        </p:spPr>
        <p:txBody>
          <a:bodyPr wrap="square" lIns="0" tIns="0" rIns="0" bIns="0" rtlCol="0" anchor="t"/>
          <a:lstStyle/>
          <a:p>
            <a:pPr algn="ctr" indent="0" marL="0">
              <a:buNone/>
            </a:pPr>
            <a:r>
              <a:rPr lang="en-US" sz="900" dirty="0">
                <a:solidFill>
                  <a:srgbClr val="A8D8CE"/>
                </a:solidFill>
                <a:latin typeface="Calibri" pitchFamily="34" charset="0"/>
                <a:ea typeface="Calibri" pitchFamily="34" charset="-122"/>
                <a:cs typeface="Calibri" pitchFamily="34" charset="-120"/>
              </a:rPr>
              <a:t>AUC-ROC</a:t>
            </a:r>
            <a:endParaRPr lang="en-US" sz="900" dirty="0"/>
          </a:p>
        </p:txBody>
      </p:sp>
      <p:sp>
        <p:nvSpPr>
          <p:cNvPr id="12" name="Shape 10"/>
          <p:cNvSpPr/>
          <p:nvPr/>
        </p:nvSpPr>
        <p:spPr>
          <a:xfrm>
            <a:off x="5029200" y="914400"/>
            <a:ext cx="1737360" cy="804672"/>
          </a:xfrm>
          <a:prstGeom prst="rect">
            <a:avLst/>
          </a:prstGeom>
          <a:solidFill>
            <a:srgbClr val="162832"/>
          </a:solidFill>
          <a:ln w="12700">
            <a:solidFill>
              <a:srgbClr val="162832"/>
            </a:solidFill>
            <a:prstDash val="solid"/>
          </a:ln>
          <a:effectLst>
            <a:outerShdw sx="100000" sy="100000" kx="0" ky="0" algn="bl" rotWithShape="0" blurRad="63500" dist="25400" dir="8100000">
              <a:srgbClr val="000000">
                <a:alpha val="10000"/>
              </a:srgbClr>
            </a:outerShdw>
          </a:effectLst>
        </p:spPr>
      </p:sp>
      <p:sp>
        <p:nvSpPr>
          <p:cNvPr id="13" name="Text 11"/>
          <p:cNvSpPr/>
          <p:nvPr/>
        </p:nvSpPr>
        <p:spPr>
          <a:xfrm>
            <a:off x="5029200" y="969264"/>
            <a:ext cx="1737360" cy="450616"/>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-0.0021</a:t>
            </a:r>
            <a:endParaRPr lang="en-US" sz="2400" dirty="0"/>
          </a:p>
        </p:txBody>
      </p:sp>
      <p:sp>
        <p:nvSpPr>
          <p:cNvPr id="14" name="Text 12"/>
          <p:cNvSpPr/>
          <p:nvPr/>
        </p:nvSpPr>
        <p:spPr>
          <a:xfrm>
            <a:off x="5029200" y="1381110"/>
            <a:ext cx="1737360" cy="305775"/>
          </a:xfrm>
          <a:prstGeom prst="rect">
            <a:avLst/>
          </a:prstGeom>
          <a:noFill/>
          <a:ln/>
        </p:spPr>
        <p:txBody>
          <a:bodyPr wrap="square" lIns="0" tIns="0" rIns="0" bIns="0" rtlCol="0" anchor="t"/>
          <a:lstStyle/>
          <a:p>
            <a:pPr algn="ctr" indent="0" marL="0">
              <a:buNone/>
            </a:pPr>
            <a:r>
              <a:rPr lang="en-US" sz="900" dirty="0">
                <a:solidFill>
                  <a:srgbClr val="A8D8CE"/>
                </a:solidFill>
                <a:latin typeface="Calibri" pitchFamily="34" charset="0"/>
                <a:ea typeface="Calibri" pitchFamily="34" charset="-122"/>
                <a:cs typeface="Calibri" pitchFamily="34" charset="-120"/>
              </a:rPr>
              <a:t>Train-Test Gap</a:t>
            </a:r>
            <a:endParaRPr lang="en-US" sz="900" dirty="0"/>
          </a:p>
        </p:txBody>
      </p:sp>
      <p:sp>
        <p:nvSpPr>
          <p:cNvPr id="15" name="Shape 13"/>
          <p:cNvSpPr/>
          <p:nvPr/>
        </p:nvSpPr>
        <p:spPr>
          <a:xfrm>
            <a:off x="7315200" y="914400"/>
            <a:ext cx="1737360" cy="804672"/>
          </a:xfrm>
          <a:prstGeom prst="rect">
            <a:avLst/>
          </a:prstGeom>
          <a:solidFill>
            <a:srgbClr val="162832"/>
          </a:solidFill>
          <a:ln w="12700">
            <a:solidFill>
              <a:srgbClr val="162832"/>
            </a:solidFill>
            <a:prstDash val="solid"/>
          </a:ln>
          <a:effectLst>
            <a:outerShdw sx="100000" sy="100000" kx="0" ky="0" algn="bl" rotWithShape="0" blurRad="63500" dist="25400" dir="8100000">
              <a:srgbClr val="000000">
                <a:alpha val="10000"/>
              </a:srgbClr>
            </a:outerShdw>
          </a:effectLst>
        </p:spPr>
      </p:sp>
      <p:sp>
        <p:nvSpPr>
          <p:cNvPr id="16" name="Text 14"/>
          <p:cNvSpPr/>
          <p:nvPr/>
        </p:nvSpPr>
        <p:spPr>
          <a:xfrm>
            <a:off x="7315200" y="969264"/>
            <a:ext cx="1737360" cy="450616"/>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lung_aca</a:t>
            </a:r>
            <a:endParaRPr lang="en-US" sz="2400" dirty="0"/>
          </a:p>
        </p:txBody>
      </p:sp>
      <p:sp>
        <p:nvSpPr>
          <p:cNvPr id="17" name="Text 15"/>
          <p:cNvSpPr/>
          <p:nvPr/>
        </p:nvSpPr>
        <p:spPr>
          <a:xfrm>
            <a:off x="7315200" y="1381110"/>
            <a:ext cx="1737360" cy="305775"/>
          </a:xfrm>
          <a:prstGeom prst="rect">
            <a:avLst/>
          </a:prstGeom>
          <a:noFill/>
          <a:ln/>
        </p:spPr>
        <p:txBody>
          <a:bodyPr wrap="square" lIns="0" tIns="0" rIns="0" bIns="0" rtlCol="0" anchor="t"/>
          <a:lstStyle/>
          <a:p>
            <a:pPr algn="ctr" indent="0" marL="0">
              <a:buNone/>
            </a:pPr>
            <a:r>
              <a:rPr lang="en-US" sz="900" dirty="0">
                <a:solidFill>
                  <a:srgbClr val="A8D8CE"/>
                </a:solidFill>
                <a:latin typeface="Calibri" pitchFamily="34" charset="0"/>
                <a:ea typeface="Calibri" pitchFamily="34" charset="-122"/>
                <a:cs typeface="Calibri" pitchFamily="34" charset="-120"/>
              </a:rPr>
              <a:t>Only error class</a:t>
            </a:r>
            <a:endParaRPr lang="en-US" sz="900" dirty="0"/>
          </a:p>
        </p:txBody>
      </p:sp>
      <p:sp>
        <p:nvSpPr>
          <p:cNvPr id="18" name="Text 16"/>
          <p:cNvSpPr/>
          <p:nvPr/>
        </p:nvSpPr>
        <p:spPr>
          <a:xfrm>
            <a:off x="457200" y="1764792"/>
            <a:ext cx="8503920" cy="182880"/>
          </a:xfrm>
          <a:prstGeom prst="rect">
            <a:avLst/>
          </a:prstGeom>
          <a:noFill/>
          <a:ln/>
        </p:spPr>
        <p:txBody>
          <a:bodyPr wrap="square" rtlCol="0" anchor="ctr"/>
          <a:lstStyle/>
          <a:p>
            <a:pPr algn="ctr" indent="0" marL="0">
              <a:buNone/>
            </a:pPr>
            <a:r>
              <a:rPr lang="en-US" sz="850" i="1" dirty="0">
                <a:solidFill>
                  <a:srgbClr val="7090A0"/>
                </a:solidFill>
                <a:latin typeface="Calibri" pitchFamily="34" charset="0"/>
                <a:ea typeface="Calibri" pitchFamily="34" charset="-122"/>
                <a:cs typeface="Calibri" pitchFamily="34" charset="-120"/>
              </a:rPr>
              <a:t>ResNet-50 — Best Model</a:t>
            </a:r>
            <a:endParaRPr lang="en-US" sz="8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8503920" cy="914400"/>
        </p:xfrm>
        <a:graphic>
          <a:graphicData uri="http://schemas.openxmlformats.org/drawingml/2006/table">
            <a:tbl>
              <a:tblPr/>
              <a:tblGrid>
                <a:gridCol w="2194560"/>
                <a:gridCol w="1554480"/>
                <a:gridCol w="1554480"/>
                <a:gridCol w="1463040"/>
                <a:gridCol w="1737360"/>
              </a:tblGrid>
              <a:tr h="42062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Accuracy</a:t>
                      </a:r>
                      <a:endParaRPr lang="en-US" sz="105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Train Acc</a:t>
                      </a:r>
                      <a:endParaRPr lang="en-US" sz="105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Gap</a:t>
                      </a:r>
                      <a:endParaRPr lang="en-US" sz="105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r>
              <a:tr h="420624">
                <a:tc>
                  <a:txBody>
                    <a:bodyPr/>
                    <a:lstStyle/>
                    <a:p>
                      <a:pPr indent="0" marL="0">
                        <a:buNone/>
                      </a:pPr>
                      <a:r>
                        <a:rPr lang="en-US" sz="1050" dirty="0">
                          <a:solidFill>
                            <a:srgbClr val="162832"/>
                          </a:solidFill>
                          <a:latin typeface="Calibri" pitchFamily="34" charset="0"/>
                          <a:ea typeface="Calibri" pitchFamily="34" charset="-122"/>
                          <a:cs typeface="Calibri" pitchFamily="34" charset="-120"/>
                        </a:rPr>
                        <a:t>Baseline CNN</a:t>
                      </a:r>
                      <a:endParaRPr lang="en-US" sz="105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50" dirty="0">
                          <a:solidFill>
                            <a:srgbClr val="162832"/>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50" dirty="0">
                          <a:solidFill>
                            <a:srgbClr val="162832"/>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50" dirty="0">
                          <a:solidFill>
                            <a:srgbClr val="162832"/>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50" dirty="0">
                          <a:solidFill>
                            <a:srgbClr val="162832"/>
                          </a:solidFill>
                          <a:latin typeface="Calibri" pitchFamily="34" charset="0"/>
                          <a:ea typeface="Calibri" pitchFamily="34" charset="-122"/>
                          <a:cs typeface="Calibri" pitchFamily="34" charset="-120"/>
                        </a:rPr>
                        <a:t>Reference</a:t>
                      </a:r>
                      <a:endParaRPr lang="en-US" sz="105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r>
              <a:tr h="420624">
                <a:tc>
                  <a:txBody>
                    <a:bodyPr/>
                    <a:lstStyle/>
                    <a:p>
                      <a:pPr indent="0" marL="0">
                        <a:buNone/>
                      </a:pPr>
                      <a:r>
                        <a:rPr lang="en-US" sz="1050" dirty="0">
                          <a:solidFill>
                            <a:srgbClr val="162832"/>
                          </a:solidFill>
                          <a:latin typeface="Calibri" pitchFamily="34" charset="0"/>
                          <a:ea typeface="Calibri" pitchFamily="34" charset="-122"/>
                          <a:cs typeface="Calibri" pitchFamily="34" charset="-120"/>
                        </a:rPr>
                        <a:t>EfficientNet-B0</a:t>
                      </a:r>
                      <a:endParaRPr lang="en-US" sz="105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50" dirty="0">
                          <a:solidFill>
                            <a:srgbClr val="162832"/>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50" dirty="0">
                          <a:solidFill>
                            <a:srgbClr val="162832"/>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50" dirty="0">
                          <a:solidFill>
                            <a:srgbClr val="162832"/>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50" dirty="0">
                          <a:solidFill>
                            <a:srgbClr val="162832"/>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r>
              <a:tr h="420624">
                <a:tc>
                  <a:txBody>
                    <a:bodyPr/>
                    <a:lstStyle/>
                    <a:p>
                      <a:pPr indent="0" marL="0">
                        <a:buNone/>
                      </a:pPr>
                      <a:r>
                        <a:rPr lang="en-US" sz="1050" b="1" dirty="0">
                          <a:solidFill>
                            <a:srgbClr val="162832"/>
                          </a:solidFill>
                          <a:latin typeface="Calibri" pitchFamily="34" charset="0"/>
                          <a:ea typeface="Calibri" pitchFamily="34" charset="-122"/>
                          <a:cs typeface="Calibri" pitchFamily="34" charset="-120"/>
                        </a:rPr>
                        <a:t>ResNet-50 ★</a:t>
                      </a:r>
                      <a:endParaRPr lang="en-US" sz="105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50" b="1" dirty="0">
                          <a:solidFill>
                            <a:srgbClr val="162832"/>
                          </a:solidFill>
                          <a:latin typeface="Calibri" pitchFamily="34" charset="0"/>
                          <a:ea typeface="Calibri" pitchFamily="34" charset="-122"/>
                          <a:cs typeface="Calibri" pitchFamily="34" charset="-120"/>
                        </a:rPr>
                        <a:t>99.87%</a:t>
                      </a:r>
                      <a:endParaRPr lang="en-US" sz="105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50" b="1" dirty="0">
                          <a:solidFill>
                            <a:srgbClr val="162832"/>
                          </a:solidFill>
                          <a:latin typeface="Calibri" pitchFamily="34" charset="0"/>
                          <a:ea typeface="Calibri" pitchFamily="34" charset="-122"/>
                          <a:cs typeface="Calibri" pitchFamily="34" charset="-120"/>
                        </a:rPr>
                        <a:t>99.66%</a:t>
                      </a:r>
                      <a:endParaRPr lang="en-US" sz="105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50" b="1" dirty="0">
                          <a:solidFill>
                            <a:srgbClr val="162832"/>
                          </a:solidFill>
                          <a:latin typeface="Calibri" pitchFamily="34" charset="0"/>
                          <a:ea typeface="Calibri" pitchFamily="34" charset="-122"/>
                          <a:cs typeface="Calibri" pitchFamily="34" charset="-120"/>
                        </a:rPr>
                        <a:t>-0.0021</a:t>
                      </a:r>
                      <a:endParaRPr lang="en-US" sz="105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c>
                  <a:txBody>
                    <a:bodyPr/>
                    <a:lstStyle/>
                    <a:p>
                      <a:pPr indent="0" marL="0">
                        <a:buNone/>
                      </a:pPr>
                      <a:r>
                        <a:rPr lang="en-US" sz="1050" b="1" dirty="0">
                          <a:solidFill>
                            <a:srgbClr val="162832"/>
                          </a:solidFill>
                          <a:latin typeface="Calibri" pitchFamily="34" charset="0"/>
                          <a:ea typeface="Calibri" pitchFamily="34" charset="-122"/>
                          <a:cs typeface="Calibri" pitchFamily="34" charset="-120"/>
                        </a:rPr>
                        <a:t>OK</a:t>
                      </a:r>
                      <a:endParaRPr lang="en-US" sz="1050" dirty="0">
                        <a:latin typeface="Calibri" charset="0"/>
                        <a:ea typeface="Calibri" charset="0"/>
                        <a:cs typeface="Calibri" charset="0"/>
                      </a:endParaRPr>
                    </a:p>
                  </a:txBody>
                  <a:tcPr marL="91440" marR="91440" marT="45720" marB="45720">
                    <a:lnL w="6350" cap="flat" cmpd="sng" algn="ctr">
                      <a:solidFill>
                        <a:srgbClr val="A8D8CE"/>
                      </a:solidFill>
                      <a:prstDash val="solid"/>
                      <a:round/>
                      <a:headEnd type="none" w="med" len="med"/>
                      <a:tailEnd type="none" w="med" len="med"/>
                    </a:lnL>
                    <a:lnR w="6350" cap="flat" cmpd="sng" algn="ctr">
                      <a:solidFill>
                        <a:srgbClr val="A8D8CE"/>
                      </a:solidFill>
                      <a:prstDash val="solid"/>
                      <a:round/>
                      <a:headEnd type="none" w="med" len="med"/>
                      <a:tailEnd type="none" w="med" len="med"/>
                    </a:lnR>
                    <a:lnT w="6350" cap="flat" cmpd="sng" algn="ctr">
                      <a:solidFill>
                        <a:srgbClr val="A8D8CE"/>
                      </a:solidFill>
                      <a:prstDash val="solid"/>
                      <a:round/>
                      <a:headEnd type="none" w="med" len="med"/>
                      <a:tailEnd type="none" w="med" len="med"/>
                    </a:lnT>
                    <a:lnB w="6350" cap="flat" cmpd="sng" algn="ctr">
                      <a:solidFill>
                        <a:srgbClr val="A8D8CE"/>
                      </a:solidFill>
                      <a:prstDash val="solid"/>
                      <a:round/>
                      <a:headEnd type="none" w="med" len="med"/>
                      <a:tailEnd type="none" w="med" len="med"/>
                    </a:lnB>
                  </a:tcPr>
                </a:tc>
              </a:tr>
            </a:tbl>
          </a:graphicData>
        </a:graphic>
      </p:graphicFrame>
      <p:sp>
        <p:nvSpPr>
          <p:cNvPr id="20" name="Text 17"/>
          <p:cNvSpPr/>
          <p:nvPr/>
        </p:nvSpPr>
        <p:spPr>
          <a:xfrm>
            <a:off x="457200" y="4160520"/>
            <a:ext cx="8503920" cy="365760"/>
          </a:xfrm>
          <a:prstGeom prst="rect">
            <a:avLst/>
          </a:prstGeom>
          <a:noFill/>
          <a:ln/>
        </p:spPr>
        <p:txBody>
          <a:bodyPr wrap="square" rtlCol="0" anchor="ctr"/>
          <a:lstStyle/>
          <a:p>
            <a:pPr algn="ctr" indent="0" marL="0">
              <a:buNone/>
            </a:pPr>
            <a:r>
              <a:rPr lang="en-US" sz="950" i="1" dirty="0">
                <a:solidFill>
                  <a:srgbClr val="2E4A5A"/>
                </a:solidFill>
                <a:latin typeface="Calibri" pitchFamily="34" charset="0"/>
                <a:ea typeface="Calibri" pitchFamily="34" charset="-122"/>
                <a:cs typeface="Calibri" pitchFamily="34" charset="-120"/>
              </a:rPr>
              <a:t>Negative gap (test &gt; train) indicates strong generalisation — augmentation and dropout applied only during training reduce apparent train accuracy.</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237744" cy="5143500"/>
          </a:xfrm>
          <a:prstGeom prst="rect">
            <a:avLst/>
          </a:prstGeom>
          <a:solidFill>
            <a:srgbClr val="162832"/>
          </a:solidFill>
          <a:ln w="12700">
            <a:solidFill>
              <a:srgbClr val="162832"/>
            </a:solidFill>
            <a:prstDash val="solid"/>
          </a:ln>
        </p:spPr>
      </p:sp>
      <p:sp>
        <p:nvSpPr>
          <p:cNvPr id="3" name="Shape 1"/>
          <p:cNvSpPr/>
          <p:nvPr/>
        </p:nvSpPr>
        <p:spPr>
          <a:xfrm>
            <a:off x="237744" y="0"/>
            <a:ext cx="8906256" cy="804672"/>
          </a:xfrm>
          <a:prstGeom prst="rect">
            <a:avLst/>
          </a:prstGeom>
          <a:solidFill>
            <a:srgbClr val="162832"/>
          </a:solidFill>
          <a:ln w="12700">
            <a:solidFill>
              <a:srgbClr val="162832"/>
            </a:solidFill>
            <a:prstDash val="solid"/>
          </a:ln>
        </p:spPr>
      </p:sp>
      <p:sp>
        <p:nvSpPr>
          <p:cNvPr id="4" name="Text 2"/>
          <p:cNvSpPr/>
          <p:nvPr/>
        </p:nvSpPr>
        <p:spPr>
          <a:xfrm>
            <a:off x="475488" y="73152"/>
            <a:ext cx="8321040" cy="658368"/>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Results — ResNet-50 Confusion Matrix</a:t>
            </a:r>
            <a:endParaRPr lang="en-US" sz="1900" dirty="0"/>
          </a:p>
        </p:txBody>
      </p:sp>
      <p:sp>
        <p:nvSpPr>
          <p:cNvPr id="5" name="Shape 3"/>
          <p:cNvSpPr/>
          <p:nvPr/>
        </p:nvSpPr>
        <p:spPr>
          <a:xfrm>
            <a:off x="0" y="4956048"/>
            <a:ext cx="9144000" cy="187452"/>
          </a:xfrm>
          <a:prstGeom prst="rect">
            <a:avLst/>
          </a:prstGeom>
          <a:solidFill>
            <a:srgbClr val="A8D8CE">
              <a:alpha val="45000"/>
            </a:srgbClr>
          </a:solidFill>
          <a:ln w="12700">
            <a:solidFill>
              <a:srgbClr val="A8D8CE"/>
            </a:solidFill>
            <a:prstDash val="solid"/>
          </a:ln>
        </p:spPr>
      </p:sp>
      <p:pic>
        <p:nvPicPr>
          <p:cNvPr id="6" name="Image 0" descr="/home/claude/henry_resnet50_confusion.jpg">    </p:cNvPr>
          <p:cNvPicPr>
            <a:picLocks noChangeAspect="1"/>
          </p:cNvPicPr>
          <p:nvPr/>
        </p:nvPicPr>
        <p:blipFill>
          <a:blip r:embed="rId1"/>
          <a:srcRect l="0" r="0" t="0" b="0"/>
          <a:stretch/>
        </p:blipFill>
        <p:spPr>
          <a:xfrm>
            <a:off x="914400" y="914400"/>
            <a:ext cx="7315200" cy="3474720"/>
          </a:xfrm>
          <a:prstGeom prst="rect">
            <a:avLst/>
          </a:prstGeom>
        </p:spPr>
      </p:pic>
      <p:sp>
        <p:nvSpPr>
          <p:cNvPr id="7" name="Text 4"/>
          <p:cNvSpPr/>
          <p:nvPr/>
        </p:nvSpPr>
        <p:spPr>
          <a:xfrm>
            <a:off x="457200" y="4434840"/>
            <a:ext cx="8503920" cy="347472"/>
          </a:xfrm>
          <a:prstGeom prst="rect">
            <a:avLst/>
          </a:prstGeom>
          <a:noFill/>
          <a:ln/>
        </p:spPr>
        <p:txBody>
          <a:bodyPr wrap="square" rtlCol="0" anchor="ctr"/>
          <a:lstStyle/>
          <a:p>
            <a:pPr algn="ctr" indent="0" marL="0">
              <a:buNone/>
            </a:pPr>
            <a:r>
              <a:rPr lang="en-US" sz="850" i="1" dirty="0">
                <a:solidFill>
                  <a:srgbClr val="7090A0"/>
                </a:solidFill>
                <a:latin typeface="Calibri" pitchFamily="34" charset="0"/>
                <a:ea typeface="Calibri" pitchFamily="34" charset="-122"/>
                <a:cs typeface="Calibri" pitchFamily="34" charset="-120"/>
              </a:rPr>
              <a:t>Figure 1. ResNet-50 normalised confusion matrix (n=3,750 test images). All five classes achieve near-perfect scores. The only misclassification is 1% of lung_aca samples predicted as lung_scc, which is histologically the most similar pair. Source: Author.</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237744" cy="5143500"/>
          </a:xfrm>
          <a:prstGeom prst="rect">
            <a:avLst/>
          </a:prstGeom>
          <a:solidFill>
            <a:srgbClr val="162832"/>
          </a:solidFill>
          <a:ln w="12700">
            <a:solidFill>
              <a:srgbClr val="162832"/>
            </a:solidFill>
            <a:prstDash val="solid"/>
          </a:ln>
        </p:spPr>
      </p:sp>
      <p:sp>
        <p:nvSpPr>
          <p:cNvPr id="3" name="Shape 1"/>
          <p:cNvSpPr/>
          <p:nvPr/>
        </p:nvSpPr>
        <p:spPr>
          <a:xfrm>
            <a:off x="237744" y="0"/>
            <a:ext cx="8906256" cy="804672"/>
          </a:xfrm>
          <a:prstGeom prst="rect">
            <a:avLst/>
          </a:prstGeom>
          <a:solidFill>
            <a:srgbClr val="162832"/>
          </a:solidFill>
          <a:ln w="12700">
            <a:solidFill>
              <a:srgbClr val="162832"/>
            </a:solidFill>
            <a:prstDash val="solid"/>
          </a:ln>
        </p:spPr>
      </p:sp>
      <p:sp>
        <p:nvSpPr>
          <p:cNvPr id="4" name="Text 2"/>
          <p:cNvSpPr/>
          <p:nvPr/>
        </p:nvSpPr>
        <p:spPr>
          <a:xfrm>
            <a:off x="475488" y="73152"/>
            <a:ext cx="8321040" cy="658368"/>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Explainability — Grad-CAM Per Class</a:t>
            </a:r>
            <a:endParaRPr lang="en-US" sz="1900" dirty="0"/>
          </a:p>
        </p:txBody>
      </p:sp>
      <p:sp>
        <p:nvSpPr>
          <p:cNvPr id="5" name="Shape 3"/>
          <p:cNvSpPr/>
          <p:nvPr/>
        </p:nvSpPr>
        <p:spPr>
          <a:xfrm>
            <a:off x="0" y="4956048"/>
            <a:ext cx="9144000" cy="187452"/>
          </a:xfrm>
          <a:prstGeom prst="rect">
            <a:avLst/>
          </a:prstGeom>
          <a:solidFill>
            <a:srgbClr val="A8D8CE">
              <a:alpha val="45000"/>
            </a:srgbClr>
          </a:solidFill>
          <a:ln w="12700">
            <a:solidFill>
              <a:srgbClr val="A8D8CE"/>
            </a:solidFill>
            <a:prstDash val="solid"/>
          </a:ln>
        </p:spPr>
      </p:sp>
      <p:sp>
        <p:nvSpPr>
          <p:cNvPr id="6" name="Text 4"/>
          <p:cNvSpPr/>
          <p:nvPr/>
        </p:nvSpPr>
        <p:spPr>
          <a:xfrm>
            <a:off x="457200" y="914400"/>
            <a:ext cx="8503920" cy="475488"/>
          </a:xfrm>
          <a:prstGeom prst="rect">
            <a:avLst/>
          </a:prstGeom>
          <a:noFill/>
          <a:ln/>
        </p:spPr>
        <p:txBody>
          <a:bodyPr wrap="square" rtlCol="0" anchor="ctr"/>
          <a:lstStyle/>
          <a:p>
            <a:pPr indent="0" marL="0">
              <a:buNone/>
            </a:pPr>
            <a:r>
              <a:rPr lang="en-US" sz="1050" dirty="0">
                <a:solidFill>
                  <a:srgbClr val="2E4A5A"/>
                </a:solidFill>
                <a:latin typeface="Calibri" pitchFamily="34" charset="0"/>
                <a:ea typeface="Calibri" pitchFamily="34" charset="-122"/>
                <a:cs typeface="Calibri" pitchFamily="34" charset="-120"/>
              </a:rPr>
              <a:t>Grad-CAM computes gradients of the predicted class score with respect to the final convolutional layer, producing a heatmap that reveals which image regions drove the model's decision. Warm colours indicate highest attention.</a:t>
            </a:r>
            <a:endParaRPr lang="en-US" sz="1050" dirty="0"/>
          </a:p>
        </p:txBody>
      </p:sp>
      <p:pic>
        <p:nvPicPr>
          <p:cNvPr id="7" name="Image 0" descr="/home/claude/henry_gradcam_grid.jpg">    </p:cNvPr>
          <p:cNvPicPr>
            <a:picLocks noChangeAspect="1"/>
          </p:cNvPicPr>
          <p:nvPr/>
        </p:nvPicPr>
        <p:blipFill>
          <a:blip r:embed="rId1"/>
          <a:srcRect l="0" r="0" t="0" b="0"/>
          <a:stretch/>
        </p:blipFill>
        <p:spPr>
          <a:xfrm>
            <a:off x="457200" y="1444752"/>
            <a:ext cx="8503920" cy="2606040"/>
          </a:xfrm>
          <a:prstGeom prst="rect">
            <a:avLst/>
          </a:prstGeom>
        </p:spPr>
      </p:pic>
      <p:sp>
        <p:nvSpPr>
          <p:cNvPr id="8" name="Text 5"/>
          <p:cNvSpPr/>
          <p:nvPr/>
        </p:nvSpPr>
        <p:spPr>
          <a:xfrm>
            <a:off x="457200" y="4096512"/>
            <a:ext cx="8503920" cy="347472"/>
          </a:xfrm>
          <a:prstGeom prst="rect">
            <a:avLst/>
          </a:prstGeom>
          <a:noFill/>
          <a:ln/>
        </p:spPr>
        <p:txBody>
          <a:bodyPr wrap="square" rtlCol="0" anchor="ctr"/>
          <a:lstStyle/>
          <a:p>
            <a:pPr algn="ctr" indent="0" marL="0">
              <a:buNone/>
            </a:pPr>
            <a:r>
              <a:rPr lang="en-US" sz="850" i="1" dirty="0">
                <a:solidFill>
                  <a:srgbClr val="7090A0"/>
                </a:solidFill>
                <a:latin typeface="Calibri" pitchFamily="34" charset="0"/>
                <a:ea typeface="Calibri" pitchFamily="34" charset="-122"/>
                <a:cs typeface="Calibri" pitchFamily="34" charset="-120"/>
              </a:rPr>
              <a:t>Figure 2. Grad-CAM correctly classified images — 3 per class. Activation consistently targets diagnostically relevant tissue structures: glandular formations for colon classes and nuclear clusters for lung classes. Source: Author.</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237744" cy="5143500"/>
          </a:xfrm>
          <a:prstGeom prst="rect">
            <a:avLst/>
          </a:prstGeom>
          <a:solidFill>
            <a:srgbClr val="162832"/>
          </a:solidFill>
          <a:ln w="12700">
            <a:solidFill>
              <a:srgbClr val="162832"/>
            </a:solidFill>
            <a:prstDash val="solid"/>
          </a:ln>
        </p:spPr>
      </p:sp>
      <p:sp>
        <p:nvSpPr>
          <p:cNvPr id="3" name="Shape 1"/>
          <p:cNvSpPr/>
          <p:nvPr/>
        </p:nvSpPr>
        <p:spPr>
          <a:xfrm>
            <a:off x="237744" y="0"/>
            <a:ext cx="8906256" cy="804672"/>
          </a:xfrm>
          <a:prstGeom prst="rect">
            <a:avLst/>
          </a:prstGeom>
          <a:solidFill>
            <a:srgbClr val="162832"/>
          </a:solidFill>
          <a:ln w="12700">
            <a:solidFill>
              <a:srgbClr val="162832"/>
            </a:solidFill>
            <a:prstDash val="solid"/>
          </a:ln>
        </p:spPr>
      </p:sp>
      <p:sp>
        <p:nvSpPr>
          <p:cNvPr id="4" name="Text 2"/>
          <p:cNvSpPr/>
          <p:nvPr/>
        </p:nvSpPr>
        <p:spPr>
          <a:xfrm>
            <a:off x="475488" y="73152"/>
            <a:ext cx="8321040" cy="658368"/>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Explainability — Grad-CAM Detail per Class</a:t>
            </a:r>
            <a:endParaRPr lang="en-US" sz="1900" dirty="0"/>
          </a:p>
        </p:txBody>
      </p:sp>
      <p:sp>
        <p:nvSpPr>
          <p:cNvPr id="5" name="Shape 3"/>
          <p:cNvSpPr/>
          <p:nvPr/>
        </p:nvSpPr>
        <p:spPr>
          <a:xfrm>
            <a:off x="0" y="4956048"/>
            <a:ext cx="9144000" cy="187452"/>
          </a:xfrm>
          <a:prstGeom prst="rect">
            <a:avLst/>
          </a:prstGeom>
          <a:solidFill>
            <a:srgbClr val="A8D8CE">
              <a:alpha val="45000"/>
            </a:srgbClr>
          </a:solidFill>
          <a:ln w="12700">
            <a:solidFill>
              <a:srgbClr val="A8D8CE"/>
            </a:solidFill>
            <a:prstDash val="solid"/>
          </a:ln>
        </p:spPr>
      </p:sp>
      <p:pic>
        <p:nvPicPr>
          <p:cNvPr id="6" name="Image 0" descr="/home/claude/henry_gradcam_detail.jpg">    </p:cNvPr>
          <p:cNvPicPr>
            <a:picLocks noChangeAspect="1"/>
          </p:cNvPicPr>
          <p:nvPr/>
        </p:nvPicPr>
        <p:blipFill>
          <a:blip r:embed="rId1"/>
          <a:srcRect l="0" r="0" t="0" b="0"/>
          <a:stretch/>
        </p:blipFill>
        <p:spPr>
          <a:xfrm>
            <a:off x="457200" y="896112"/>
            <a:ext cx="3657600" cy="3886200"/>
          </a:xfrm>
          <a:prstGeom prst="rect">
            <a:avLst/>
          </a:prstGeom>
        </p:spPr>
      </p:pic>
      <p:sp>
        <p:nvSpPr>
          <p:cNvPr id="7" name="Shape 4"/>
          <p:cNvSpPr/>
          <p:nvPr/>
        </p:nvSpPr>
        <p:spPr>
          <a:xfrm>
            <a:off x="4297680" y="932688"/>
            <a:ext cx="4709160" cy="676656"/>
          </a:xfrm>
          <a:prstGeom prst="rect">
            <a:avLst/>
          </a:prstGeom>
          <a:solidFill>
            <a:srgbClr val="FFFFFF"/>
          </a:solidFill>
          <a:ln w="10160">
            <a:solidFill>
              <a:srgbClr val="A8D8CE"/>
            </a:solidFill>
            <a:prstDash val="solid"/>
          </a:ln>
        </p:spPr>
      </p:sp>
      <p:sp>
        <p:nvSpPr>
          <p:cNvPr id="8" name="Text 5"/>
          <p:cNvSpPr/>
          <p:nvPr/>
        </p:nvSpPr>
        <p:spPr>
          <a:xfrm>
            <a:off x="4407408" y="987552"/>
            <a:ext cx="1371600" cy="256032"/>
          </a:xfrm>
          <a:prstGeom prst="rect">
            <a:avLst/>
          </a:prstGeom>
          <a:noFill/>
          <a:ln/>
        </p:spPr>
        <p:txBody>
          <a:bodyPr wrap="square" lIns="0" tIns="0" rIns="0" bIns="0" rtlCol="0" anchor="ctr"/>
          <a:lstStyle/>
          <a:p>
            <a:pPr indent="0" marL="0">
              <a:buNone/>
            </a:pPr>
            <a:r>
              <a:rPr lang="en-US" sz="950" b="1" dirty="0">
                <a:solidFill>
                  <a:srgbClr val="1A5C4E"/>
                </a:solidFill>
                <a:latin typeface="Calibri" pitchFamily="34" charset="0"/>
                <a:ea typeface="Calibri" pitchFamily="34" charset="-122"/>
                <a:cs typeface="Calibri" pitchFamily="34" charset="-120"/>
              </a:rPr>
              <a:t>colon_aca</a:t>
            </a:r>
            <a:endParaRPr lang="en-US" sz="950" dirty="0"/>
          </a:p>
        </p:txBody>
      </p:sp>
      <p:sp>
        <p:nvSpPr>
          <p:cNvPr id="9" name="Text 6"/>
          <p:cNvSpPr/>
          <p:nvPr/>
        </p:nvSpPr>
        <p:spPr>
          <a:xfrm>
            <a:off x="4407408" y="1243584"/>
            <a:ext cx="4480560" cy="347472"/>
          </a:xfrm>
          <a:prstGeom prst="rect">
            <a:avLst/>
          </a:prstGeom>
          <a:noFill/>
          <a:ln/>
        </p:spPr>
        <p:txBody>
          <a:bodyPr wrap="square" rtlCol="0" anchor="ctr"/>
          <a:lstStyle/>
          <a:p>
            <a:pPr indent="0" marL="0">
              <a:buNone/>
            </a:pPr>
            <a:r>
              <a:rPr lang="en-US" sz="900" dirty="0">
                <a:solidFill>
                  <a:srgbClr val="2E4A5A"/>
                </a:solidFill>
                <a:latin typeface="Calibri" pitchFamily="34" charset="0"/>
                <a:ea typeface="Calibri" pitchFamily="34" charset="-122"/>
                <a:cs typeface="Calibri" pitchFamily="34" charset="-120"/>
              </a:rPr>
              <a:t>Activation on glandular epithelium and nuclear crowding — key adenocarcinoma marker.</a:t>
            </a:r>
            <a:endParaRPr lang="en-US" sz="900" dirty="0"/>
          </a:p>
        </p:txBody>
      </p:sp>
      <p:sp>
        <p:nvSpPr>
          <p:cNvPr id="10" name="Shape 7"/>
          <p:cNvSpPr/>
          <p:nvPr/>
        </p:nvSpPr>
        <p:spPr>
          <a:xfrm>
            <a:off x="4297680" y="1682496"/>
            <a:ext cx="4709160" cy="676656"/>
          </a:xfrm>
          <a:prstGeom prst="rect">
            <a:avLst/>
          </a:prstGeom>
          <a:solidFill>
            <a:srgbClr val="E8F5F2"/>
          </a:solidFill>
          <a:ln w="10160">
            <a:solidFill>
              <a:srgbClr val="A8D8CE"/>
            </a:solidFill>
            <a:prstDash val="solid"/>
          </a:ln>
        </p:spPr>
      </p:sp>
      <p:sp>
        <p:nvSpPr>
          <p:cNvPr id="11" name="Text 8"/>
          <p:cNvSpPr/>
          <p:nvPr/>
        </p:nvSpPr>
        <p:spPr>
          <a:xfrm>
            <a:off x="4407408" y="1737360"/>
            <a:ext cx="1371600" cy="256032"/>
          </a:xfrm>
          <a:prstGeom prst="rect">
            <a:avLst/>
          </a:prstGeom>
          <a:noFill/>
          <a:ln/>
        </p:spPr>
        <p:txBody>
          <a:bodyPr wrap="square" lIns="0" tIns="0" rIns="0" bIns="0" rtlCol="0" anchor="ctr"/>
          <a:lstStyle/>
          <a:p>
            <a:pPr indent="0" marL="0">
              <a:buNone/>
            </a:pPr>
            <a:r>
              <a:rPr lang="en-US" sz="950" b="1" dirty="0">
                <a:solidFill>
                  <a:srgbClr val="1A5C4E"/>
                </a:solidFill>
                <a:latin typeface="Calibri" pitchFamily="34" charset="0"/>
                <a:ea typeface="Calibri" pitchFamily="34" charset="-122"/>
                <a:cs typeface="Calibri" pitchFamily="34" charset="-120"/>
              </a:rPr>
              <a:t>colon_n</a:t>
            </a:r>
            <a:endParaRPr lang="en-US" sz="950" dirty="0"/>
          </a:p>
        </p:txBody>
      </p:sp>
      <p:sp>
        <p:nvSpPr>
          <p:cNvPr id="12" name="Text 9"/>
          <p:cNvSpPr/>
          <p:nvPr/>
        </p:nvSpPr>
        <p:spPr>
          <a:xfrm>
            <a:off x="4407408" y="1993392"/>
            <a:ext cx="4480560" cy="347472"/>
          </a:xfrm>
          <a:prstGeom prst="rect">
            <a:avLst/>
          </a:prstGeom>
          <a:noFill/>
          <a:ln/>
        </p:spPr>
        <p:txBody>
          <a:bodyPr wrap="square" rtlCol="0" anchor="ctr"/>
          <a:lstStyle/>
          <a:p>
            <a:pPr indent="0" marL="0">
              <a:buNone/>
            </a:pPr>
            <a:r>
              <a:rPr lang="en-US" sz="900" dirty="0">
                <a:solidFill>
                  <a:srgbClr val="2E4A5A"/>
                </a:solidFill>
                <a:latin typeface="Calibri" pitchFamily="34" charset="0"/>
                <a:ea typeface="Calibri" pitchFamily="34" charset="-122"/>
                <a:cs typeface="Calibri" pitchFamily="34" charset="-120"/>
              </a:rPr>
              <a:t>Attention splits across the honeycomb epithelial layer characteristic of normal colon.</a:t>
            </a:r>
            <a:endParaRPr lang="en-US" sz="900" dirty="0"/>
          </a:p>
        </p:txBody>
      </p:sp>
      <p:sp>
        <p:nvSpPr>
          <p:cNvPr id="13" name="Shape 10"/>
          <p:cNvSpPr/>
          <p:nvPr/>
        </p:nvSpPr>
        <p:spPr>
          <a:xfrm>
            <a:off x="4297680" y="2432304"/>
            <a:ext cx="4709160" cy="676656"/>
          </a:xfrm>
          <a:prstGeom prst="rect">
            <a:avLst/>
          </a:prstGeom>
          <a:solidFill>
            <a:srgbClr val="FFFFFF"/>
          </a:solidFill>
          <a:ln w="10160">
            <a:solidFill>
              <a:srgbClr val="A8D8CE"/>
            </a:solidFill>
            <a:prstDash val="solid"/>
          </a:ln>
        </p:spPr>
      </p:sp>
      <p:sp>
        <p:nvSpPr>
          <p:cNvPr id="14" name="Text 11"/>
          <p:cNvSpPr/>
          <p:nvPr/>
        </p:nvSpPr>
        <p:spPr>
          <a:xfrm>
            <a:off x="4407408" y="2487168"/>
            <a:ext cx="1371600" cy="256032"/>
          </a:xfrm>
          <a:prstGeom prst="rect">
            <a:avLst/>
          </a:prstGeom>
          <a:noFill/>
          <a:ln/>
        </p:spPr>
        <p:txBody>
          <a:bodyPr wrap="square" lIns="0" tIns="0" rIns="0" bIns="0" rtlCol="0" anchor="ctr"/>
          <a:lstStyle/>
          <a:p>
            <a:pPr indent="0" marL="0">
              <a:buNone/>
            </a:pPr>
            <a:r>
              <a:rPr lang="en-US" sz="950" b="1" dirty="0">
                <a:solidFill>
                  <a:srgbClr val="1A5C4E"/>
                </a:solidFill>
                <a:latin typeface="Calibri" pitchFamily="34" charset="0"/>
                <a:ea typeface="Calibri" pitchFamily="34" charset="-122"/>
                <a:cs typeface="Calibri" pitchFamily="34" charset="-120"/>
              </a:rPr>
              <a:t>lung_aca</a:t>
            </a:r>
            <a:endParaRPr lang="en-US" sz="950" dirty="0"/>
          </a:p>
        </p:txBody>
      </p:sp>
      <p:sp>
        <p:nvSpPr>
          <p:cNvPr id="15" name="Text 12"/>
          <p:cNvSpPr/>
          <p:nvPr/>
        </p:nvSpPr>
        <p:spPr>
          <a:xfrm>
            <a:off x="4407408" y="2743200"/>
            <a:ext cx="4480560" cy="347472"/>
          </a:xfrm>
          <a:prstGeom prst="rect">
            <a:avLst/>
          </a:prstGeom>
          <a:noFill/>
          <a:ln/>
        </p:spPr>
        <p:txBody>
          <a:bodyPr wrap="square" rtlCol="0" anchor="ctr"/>
          <a:lstStyle/>
          <a:p>
            <a:pPr indent="0" marL="0">
              <a:buNone/>
            </a:pPr>
            <a:r>
              <a:rPr lang="en-US" sz="900" dirty="0">
                <a:solidFill>
                  <a:srgbClr val="2E4A5A"/>
                </a:solidFill>
                <a:latin typeface="Calibri" pitchFamily="34" charset="0"/>
                <a:ea typeface="Calibri" pitchFamily="34" charset="-122"/>
                <a:cs typeface="Calibri" pitchFamily="34" charset="-120"/>
              </a:rPr>
              <a:t>Hotspot on dense nuclear clusters. Slightly more diffuse — consistent with the 1% lung_scc confusion.</a:t>
            </a:r>
            <a:endParaRPr lang="en-US" sz="900" dirty="0"/>
          </a:p>
        </p:txBody>
      </p:sp>
      <p:sp>
        <p:nvSpPr>
          <p:cNvPr id="16" name="Shape 13"/>
          <p:cNvSpPr/>
          <p:nvPr/>
        </p:nvSpPr>
        <p:spPr>
          <a:xfrm>
            <a:off x="4297680" y="3182112"/>
            <a:ext cx="4709160" cy="676656"/>
          </a:xfrm>
          <a:prstGeom prst="rect">
            <a:avLst/>
          </a:prstGeom>
          <a:solidFill>
            <a:srgbClr val="E8F5F2"/>
          </a:solidFill>
          <a:ln w="10160">
            <a:solidFill>
              <a:srgbClr val="A8D8CE"/>
            </a:solidFill>
            <a:prstDash val="solid"/>
          </a:ln>
        </p:spPr>
      </p:sp>
      <p:sp>
        <p:nvSpPr>
          <p:cNvPr id="17" name="Text 14"/>
          <p:cNvSpPr/>
          <p:nvPr/>
        </p:nvSpPr>
        <p:spPr>
          <a:xfrm>
            <a:off x="4407408" y="3236976"/>
            <a:ext cx="1371600" cy="256032"/>
          </a:xfrm>
          <a:prstGeom prst="rect">
            <a:avLst/>
          </a:prstGeom>
          <a:noFill/>
          <a:ln/>
        </p:spPr>
        <p:txBody>
          <a:bodyPr wrap="square" lIns="0" tIns="0" rIns="0" bIns="0" rtlCol="0" anchor="ctr"/>
          <a:lstStyle/>
          <a:p>
            <a:pPr indent="0" marL="0">
              <a:buNone/>
            </a:pPr>
            <a:r>
              <a:rPr lang="en-US" sz="950" b="1" dirty="0">
                <a:solidFill>
                  <a:srgbClr val="1A5C4E"/>
                </a:solidFill>
                <a:latin typeface="Calibri" pitchFamily="34" charset="0"/>
                <a:ea typeface="Calibri" pitchFamily="34" charset="-122"/>
                <a:cs typeface="Calibri" pitchFamily="34" charset="-120"/>
              </a:rPr>
              <a:t>lung_scc</a:t>
            </a:r>
            <a:endParaRPr lang="en-US" sz="950" dirty="0"/>
          </a:p>
        </p:txBody>
      </p:sp>
      <p:sp>
        <p:nvSpPr>
          <p:cNvPr id="18" name="Text 15"/>
          <p:cNvSpPr/>
          <p:nvPr/>
        </p:nvSpPr>
        <p:spPr>
          <a:xfrm>
            <a:off x="4407408" y="3493008"/>
            <a:ext cx="4480560" cy="347472"/>
          </a:xfrm>
          <a:prstGeom prst="rect">
            <a:avLst/>
          </a:prstGeom>
          <a:noFill/>
          <a:ln/>
        </p:spPr>
        <p:txBody>
          <a:bodyPr wrap="square" rtlCol="0" anchor="ctr"/>
          <a:lstStyle/>
          <a:p>
            <a:pPr indent="0" marL="0">
              <a:buNone/>
            </a:pPr>
            <a:r>
              <a:rPr lang="en-US" sz="900" dirty="0">
                <a:solidFill>
                  <a:srgbClr val="2E4A5A"/>
                </a:solidFill>
                <a:latin typeface="Calibri" pitchFamily="34" charset="0"/>
                <a:ea typeface="Calibri" pitchFamily="34" charset="-122"/>
                <a:cs typeface="Calibri" pitchFamily="34" charset="-120"/>
              </a:rPr>
              <a:t>Very focused activation on large pleomorphic cells with prominent nucleoli.</a:t>
            </a:r>
            <a:endParaRPr lang="en-US" sz="900" dirty="0"/>
          </a:p>
        </p:txBody>
      </p:sp>
      <p:sp>
        <p:nvSpPr>
          <p:cNvPr id="19" name="Shape 16"/>
          <p:cNvSpPr/>
          <p:nvPr/>
        </p:nvSpPr>
        <p:spPr>
          <a:xfrm>
            <a:off x="4297680" y="3931920"/>
            <a:ext cx="4709160" cy="676656"/>
          </a:xfrm>
          <a:prstGeom prst="rect">
            <a:avLst/>
          </a:prstGeom>
          <a:solidFill>
            <a:srgbClr val="FFFFFF"/>
          </a:solidFill>
          <a:ln w="10160">
            <a:solidFill>
              <a:srgbClr val="A8D8CE"/>
            </a:solidFill>
            <a:prstDash val="solid"/>
          </a:ln>
        </p:spPr>
      </p:sp>
      <p:sp>
        <p:nvSpPr>
          <p:cNvPr id="20" name="Text 17"/>
          <p:cNvSpPr/>
          <p:nvPr/>
        </p:nvSpPr>
        <p:spPr>
          <a:xfrm>
            <a:off x="4407408" y="3986784"/>
            <a:ext cx="1371600" cy="256032"/>
          </a:xfrm>
          <a:prstGeom prst="rect">
            <a:avLst/>
          </a:prstGeom>
          <a:noFill/>
          <a:ln/>
        </p:spPr>
        <p:txBody>
          <a:bodyPr wrap="square" lIns="0" tIns="0" rIns="0" bIns="0" rtlCol="0" anchor="ctr"/>
          <a:lstStyle/>
          <a:p>
            <a:pPr indent="0" marL="0">
              <a:buNone/>
            </a:pPr>
            <a:r>
              <a:rPr lang="en-US" sz="950" b="1" dirty="0">
                <a:solidFill>
                  <a:srgbClr val="1A5C4E"/>
                </a:solidFill>
                <a:latin typeface="Calibri" pitchFamily="34" charset="0"/>
                <a:ea typeface="Calibri" pitchFamily="34" charset="-122"/>
                <a:cs typeface="Calibri" pitchFamily="34" charset="-120"/>
              </a:rPr>
              <a:t>lung_n</a:t>
            </a:r>
            <a:endParaRPr lang="en-US" sz="950" dirty="0"/>
          </a:p>
        </p:txBody>
      </p:sp>
      <p:sp>
        <p:nvSpPr>
          <p:cNvPr id="21" name="Text 18"/>
          <p:cNvSpPr/>
          <p:nvPr/>
        </p:nvSpPr>
        <p:spPr>
          <a:xfrm>
            <a:off x="4407408" y="4242816"/>
            <a:ext cx="4480560" cy="347472"/>
          </a:xfrm>
          <a:prstGeom prst="rect">
            <a:avLst/>
          </a:prstGeom>
          <a:noFill/>
          <a:ln/>
        </p:spPr>
        <p:txBody>
          <a:bodyPr wrap="square" rtlCol="0" anchor="ctr"/>
          <a:lstStyle/>
          <a:p>
            <a:pPr indent="0" marL="0">
              <a:buNone/>
            </a:pPr>
            <a:r>
              <a:rPr lang="en-US" sz="900" dirty="0">
                <a:solidFill>
                  <a:srgbClr val="2E4A5A"/>
                </a:solidFill>
                <a:latin typeface="Calibri" pitchFamily="34" charset="0"/>
                <a:ea typeface="Calibri" pitchFamily="34" charset="-122"/>
                <a:cs typeface="Calibri" pitchFamily="34" charset="-120"/>
              </a:rPr>
              <a:t>Diffuse attention across normal alveolar architecture — no focal pathological feature.</a:t>
            </a:r>
            <a:endParaRPr lang="en-US" sz="900" dirty="0"/>
          </a:p>
        </p:txBody>
      </p:sp>
      <p:sp>
        <p:nvSpPr>
          <p:cNvPr id="22" name="Text 19"/>
          <p:cNvSpPr/>
          <p:nvPr/>
        </p:nvSpPr>
        <p:spPr>
          <a:xfrm>
            <a:off x="457200" y="4828032"/>
            <a:ext cx="8503920" cy="256032"/>
          </a:xfrm>
          <a:prstGeom prst="rect">
            <a:avLst/>
          </a:prstGeom>
          <a:noFill/>
          <a:ln/>
        </p:spPr>
        <p:txBody>
          <a:bodyPr wrap="square" rtlCol="0" anchor="ctr"/>
          <a:lstStyle/>
          <a:p>
            <a:pPr indent="0" marL="0">
              <a:buNone/>
            </a:pPr>
            <a:r>
              <a:rPr lang="en-US" sz="850" i="1" dirty="0">
                <a:solidFill>
                  <a:srgbClr val="7090A0"/>
                </a:solidFill>
                <a:latin typeface="Calibri" pitchFamily="34" charset="0"/>
                <a:ea typeface="Calibri" pitchFamily="34" charset="-122"/>
                <a:cs typeface="Calibri" pitchFamily="34" charset="-120"/>
              </a:rPr>
              <a:t>Figure 3. Grad-CAM detail — one image per class, showing original, heatmap, and overlay. Source: Author.</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237744" cy="5143500"/>
          </a:xfrm>
          <a:prstGeom prst="rect">
            <a:avLst/>
          </a:prstGeom>
          <a:solidFill>
            <a:srgbClr val="162832"/>
          </a:solidFill>
          <a:ln w="12700">
            <a:solidFill>
              <a:srgbClr val="162832"/>
            </a:solidFill>
            <a:prstDash val="solid"/>
          </a:ln>
        </p:spPr>
      </p:sp>
      <p:sp>
        <p:nvSpPr>
          <p:cNvPr id="3" name="Shape 1"/>
          <p:cNvSpPr/>
          <p:nvPr/>
        </p:nvSpPr>
        <p:spPr>
          <a:xfrm>
            <a:off x="237744" y="0"/>
            <a:ext cx="8906256" cy="804672"/>
          </a:xfrm>
          <a:prstGeom prst="rect">
            <a:avLst/>
          </a:prstGeom>
          <a:solidFill>
            <a:srgbClr val="162832"/>
          </a:solidFill>
          <a:ln w="12700">
            <a:solidFill>
              <a:srgbClr val="162832"/>
            </a:solidFill>
            <a:prstDash val="solid"/>
          </a:ln>
        </p:spPr>
      </p:sp>
      <p:sp>
        <p:nvSpPr>
          <p:cNvPr id="4" name="Text 2"/>
          <p:cNvSpPr/>
          <p:nvPr/>
        </p:nvSpPr>
        <p:spPr>
          <a:xfrm>
            <a:off x="475488" y="73152"/>
            <a:ext cx="8321040" cy="658368"/>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Lessons Learned</a:t>
            </a:r>
            <a:endParaRPr lang="en-US" sz="1900" dirty="0"/>
          </a:p>
        </p:txBody>
      </p:sp>
      <p:sp>
        <p:nvSpPr>
          <p:cNvPr id="5" name="Shape 3"/>
          <p:cNvSpPr/>
          <p:nvPr/>
        </p:nvSpPr>
        <p:spPr>
          <a:xfrm>
            <a:off x="0" y="4956048"/>
            <a:ext cx="9144000" cy="187452"/>
          </a:xfrm>
          <a:prstGeom prst="rect">
            <a:avLst/>
          </a:prstGeom>
          <a:solidFill>
            <a:srgbClr val="A8D8CE">
              <a:alpha val="45000"/>
            </a:srgbClr>
          </a:solidFill>
          <a:ln w="12700">
            <a:solidFill>
              <a:srgbClr val="A8D8CE"/>
            </a:solidFill>
            <a:prstDash val="solid"/>
          </a:ln>
        </p:spPr>
      </p:sp>
      <p:sp>
        <p:nvSpPr>
          <p:cNvPr id="6" name="Shape 4"/>
          <p:cNvSpPr/>
          <p:nvPr/>
        </p:nvSpPr>
        <p:spPr>
          <a:xfrm>
            <a:off x="457200" y="960120"/>
            <a:ext cx="4069080" cy="1572768"/>
          </a:xfrm>
          <a:prstGeom prst="rect">
            <a:avLst/>
          </a:prstGeom>
          <a:solidFill>
            <a:srgbClr val="F4F8FA"/>
          </a:solidFill>
          <a:ln w="12700">
            <a:solidFill>
              <a:srgbClr val="A8D8CE"/>
            </a:solidFill>
            <a:prstDash val="solid"/>
          </a:ln>
          <a:effectLst>
            <a:outerShdw sx="100000" sy="100000" kx="0" ky="0" algn="bl" rotWithShape="0" blurRad="63500" dist="25400" dir="8100000">
              <a:srgbClr val="000000">
                <a:alpha val="6000"/>
              </a:srgbClr>
            </a:outerShdw>
          </a:effectLst>
        </p:spPr>
      </p:sp>
      <p:sp>
        <p:nvSpPr>
          <p:cNvPr id="7" name="Shape 5"/>
          <p:cNvSpPr/>
          <p:nvPr/>
        </p:nvSpPr>
        <p:spPr>
          <a:xfrm>
            <a:off x="457200" y="960120"/>
            <a:ext cx="402336" cy="402336"/>
          </a:xfrm>
          <a:prstGeom prst="rect">
            <a:avLst/>
          </a:prstGeom>
          <a:solidFill>
            <a:srgbClr val="1A5C4E"/>
          </a:solidFill>
          <a:ln w="12700">
            <a:solidFill>
              <a:srgbClr val="1A5C4E"/>
            </a:solidFill>
            <a:prstDash val="solid"/>
          </a:ln>
        </p:spPr>
      </p:sp>
      <p:sp>
        <p:nvSpPr>
          <p:cNvPr id="8" name="Text 6"/>
          <p:cNvSpPr/>
          <p:nvPr/>
        </p:nvSpPr>
        <p:spPr>
          <a:xfrm>
            <a:off x="457200" y="96012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9" name="Text 7"/>
          <p:cNvSpPr/>
          <p:nvPr/>
        </p:nvSpPr>
        <p:spPr>
          <a:xfrm>
            <a:off x="548640" y="1417320"/>
            <a:ext cx="3840480" cy="329184"/>
          </a:xfrm>
          <a:prstGeom prst="rect">
            <a:avLst/>
          </a:prstGeom>
          <a:noFill/>
          <a:ln/>
        </p:spPr>
        <p:txBody>
          <a:bodyPr wrap="square" rtlCol="0" anchor="ctr"/>
          <a:lstStyle/>
          <a:p>
            <a:pPr indent="0" marL="0">
              <a:buNone/>
            </a:pPr>
            <a:r>
              <a:rPr lang="en-US" sz="1100" b="1" dirty="0">
                <a:solidFill>
                  <a:srgbClr val="162832"/>
                </a:solidFill>
                <a:latin typeface="Calibri" pitchFamily="34" charset="0"/>
                <a:ea typeface="Calibri" pitchFamily="34" charset="-122"/>
                <a:cs typeface="Calibri" pitchFamily="34" charset="-120"/>
              </a:rPr>
              <a:t>Inspect data before modelling</a:t>
            </a:r>
            <a:endParaRPr lang="en-US" sz="1100" dirty="0"/>
          </a:p>
        </p:txBody>
      </p:sp>
      <p:sp>
        <p:nvSpPr>
          <p:cNvPr id="10" name="Text 8"/>
          <p:cNvSpPr/>
          <p:nvPr/>
        </p:nvSpPr>
        <p:spPr>
          <a:xfrm>
            <a:off x="548640" y="1764792"/>
            <a:ext cx="3840480" cy="731520"/>
          </a:xfrm>
          <a:prstGeom prst="rect">
            <a:avLst/>
          </a:prstGeom>
          <a:noFill/>
          <a:ln/>
        </p:spPr>
        <p:txBody>
          <a:bodyPr wrap="square" rtlCol="0" anchor="ctr"/>
          <a:lstStyle/>
          <a:p>
            <a:pPr indent="0" marL="0">
              <a:buNone/>
            </a:pPr>
            <a:r>
              <a:rPr lang="en-US" sz="950" dirty="0">
                <a:solidFill>
                  <a:srgbClr val="2E4A5A"/>
                </a:solidFill>
                <a:latin typeface="Calibri" pitchFamily="34" charset="0"/>
                <a:ea typeface="Calibri" pitchFamily="34" charset="-122"/>
                <a:cs typeface="Calibri" pitchFamily="34" charset="-120"/>
              </a:rPr>
              <a:t>The Mendeley dataset contained white blood cells, not red blood cell smears. Manual inspection before coding prevented a fundamentally flawed model.</a:t>
            </a:r>
            <a:endParaRPr lang="en-US" sz="950" dirty="0"/>
          </a:p>
        </p:txBody>
      </p:sp>
      <p:sp>
        <p:nvSpPr>
          <p:cNvPr id="11" name="Shape 9"/>
          <p:cNvSpPr/>
          <p:nvPr/>
        </p:nvSpPr>
        <p:spPr>
          <a:xfrm>
            <a:off x="4800600" y="960120"/>
            <a:ext cx="4069080" cy="1572768"/>
          </a:xfrm>
          <a:prstGeom prst="rect">
            <a:avLst/>
          </a:prstGeom>
          <a:solidFill>
            <a:srgbClr val="F4F8FA"/>
          </a:solidFill>
          <a:ln w="12700">
            <a:solidFill>
              <a:srgbClr val="A8D8CE"/>
            </a:solidFill>
            <a:prstDash val="solid"/>
          </a:ln>
          <a:effectLst>
            <a:outerShdw sx="100000" sy="100000" kx="0" ky="0" algn="bl" rotWithShape="0" blurRad="63500" dist="25400" dir="8100000">
              <a:srgbClr val="000000">
                <a:alpha val="6000"/>
              </a:srgbClr>
            </a:outerShdw>
          </a:effectLst>
        </p:spPr>
      </p:sp>
      <p:sp>
        <p:nvSpPr>
          <p:cNvPr id="12" name="Shape 10"/>
          <p:cNvSpPr/>
          <p:nvPr/>
        </p:nvSpPr>
        <p:spPr>
          <a:xfrm>
            <a:off x="4800600" y="960120"/>
            <a:ext cx="402336" cy="402336"/>
          </a:xfrm>
          <a:prstGeom prst="rect">
            <a:avLst/>
          </a:prstGeom>
          <a:solidFill>
            <a:srgbClr val="1A5C4E"/>
          </a:solidFill>
          <a:ln w="12700">
            <a:solidFill>
              <a:srgbClr val="1A5C4E"/>
            </a:solidFill>
            <a:prstDash val="solid"/>
          </a:ln>
        </p:spPr>
      </p:sp>
      <p:sp>
        <p:nvSpPr>
          <p:cNvPr id="13" name="Text 11"/>
          <p:cNvSpPr/>
          <p:nvPr/>
        </p:nvSpPr>
        <p:spPr>
          <a:xfrm>
            <a:off x="4800600" y="96012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4" name="Text 12"/>
          <p:cNvSpPr/>
          <p:nvPr/>
        </p:nvSpPr>
        <p:spPr>
          <a:xfrm>
            <a:off x="4892040" y="1417320"/>
            <a:ext cx="3840480" cy="329184"/>
          </a:xfrm>
          <a:prstGeom prst="rect">
            <a:avLst/>
          </a:prstGeom>
          <a:noFill/>
          <a:ln/>
        </p:spPr>
        <p:txBody>
          <a:bodyPr wrap="square" rtlCol="0" anchor="ctr"/>
          <a:lstStyle/>
          <a:p>
            <a:pPr indent="0" marL="0">
              <a:buNone/>
            </a:pPr>
            <a:r>
              <a:rPr lang="en-US" sz="1100" b="1" dirty="0">
                <a:solidFill>
                  <a:srgbClr val="162832"/>
                </a:solidFill>
                <a:latin typeface="Calibri" pitchFamily="34" charset="0"/>
                <a:ea typeface="Calibri" pitchFamily="34" charset="-122"/>
                <a:cs typeface="Calibri" pitchFamily="34" charset="-120"/>
              </a:rPr>
              <a:t>Transfer learning on histopathology</a:t>
            </a:r>
            <a:endParaRPr lang="en-US" sz="1100" dirty="0"/>
          </a:p>
        </p:txBody>
      </p:sp>
      <p:sp>
        <p:nvSpPr>
          <p:cNvPr id="15" name="Text 13"/>
          <p:cNvSpPr/>
          <p:nvPr/>
        </p:nvSpPr>
        <p:spPr>
          <a:xfrm>
            <a:off x="4892040" y="1764792"/>
            <a:ext cx="3840480" cy="731520"/>
          </a:xfrm>
          <a:prstGeom prst="rect">
            <a:avLst/>
          </a:prstGeom>
          <a:noFill/>
          <a:ln/>
        </p:spPr>
        <p:txBody>
          <a:bodyPr wrap="square" rtlCol="0" anchor="ctr"/>
          <a:lstStyle/>
          <a:p>
            <a:pPr indent="0" marL="0">
              <a:buNone/>
            </a:pPr>
            <a:r>
              <a:rPr lang="en-US" sz="950" dirty="0">
                <a:solidFill>
                  <a:srgbClr val="2E4A5A"/>
                </a:solidFill>
                <a:latin typeface="Calibri" pitchFamily="34" charset="0"/>
                <a:ea typeface="Calibri" pitchFamily="34" charset="-122"/>
                <a:cs typeface="Calibri" pitchFamily="34" charset="-120"/>
              </a:rPr>
              <a:t>ImageNet features for edges, textures, and shapes transfer well to H&amp;E images, significantly outperforming a model trained from scratch.</a:t>
            </a:r>
            <a:endParaRPr lang="en-US" sz="950" dirty="0"/>
          </a:p>
        </p:txBody>
      </p:sp>
      <p:sp>
        <p:nvSpPr>
          <p:cNvPr id="16" name="Shape 14"/>
          <p:cNvSpPr/>
          <p:nvPr/>
        </p:nvSpPr>
        <p:spPr>
          <a:xfrm>
            <a:off x="457200" y="2697480"/>
            <a:ext cx="4069080" cy="1572768"/>
          </a:xfrm>
          <a:prstGeom prst="rect">
            <a:avLst/>
          </a:prstGeom>
          <a:solidFill>
            <a:srgbClr val="F4F8FA"/>
          </a:solidFill>
          <a:ln w="12700">
            <a:solidFill>
              <a:srgbClr val="A8D8CE"/>
            </a:solidFill>
            <a:prstDash val="solid"/>
          </a:ln>
          <a:effectLst>
            <a:outerShdw sx="100000" sy="100000" kx="0" ky="0" algn="bl" rotWithShape="0" blurRad="63500" dist="25400" dir="8100000">
              <a:srgbClr val="000000">
                <a:alpha val="6000"/>
              </a:srgbClr>
            </a:outerShdw>
          </a:effectLst>
        </p:spPr>
      </p:sp>
      <p:sp>
        <p:nvSpPr>
          <p:cNvPr id="17" name="Shape 15"/>
          <p:cNvSpPr/>
          <p:nvPr/>
        </p:nvSpPr>
        <p:spPr>
          <a:xfrm>
            <a:off x="457200" y="2697480"/>
            <a:ext cx="402336" cy="402336"/>
          </a:xfrm>
          <a:prstGeom prst="rect">
            <a:avLst/>
          </a:prstGeom>
          <a:solidFill>
            <a:srgbClr val="1A5C4E"/>
          </a:solidFill>
          <a:ln w="12700">
            <a:solidFill>
              <a:srgbClr val="1A5C4E"/>
            </a:solidFill>
            <a:prstDash val="solid"/>
          </a:ln>
        </p:spPr>
      </p:sp>
      <p:sp>
        <p:nvSpPr>
          <p:cNvPr id="18" name="Text 16"/>
          <p:cNvSpPr/>
          <p:nvPr/>
        </p:nvSpPr>
        <p:spPr>
          <a:xfrm>
            <a:off x="457200" y="269748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9" name="Text 17"/>
          <p:cNvSpPr/>
          <p:nvPr/>
        </p:nvSpPr>
        <p:spPr>
          <a:xfrm>
            <a:off x="548640" y="3154680"/>
            <a:ext cx="3840480" cy="329184"/>
          </a:xfrm>
          <a:prstGeom prst="rect">
            <a:avLst/>
          </a:prstGeom>
          <a:noFill/>
          <a:ln/>
        </p:spPr>
        <p:txBody>
          <a:bodyPr wrap="square" rtlCol="0" anchor="ctr"/>
          <a:lstStyle/>
          <a:p>
            <a:pPr indent="0" marL="0">
              <a:buNone/>
            </a:pPr>
            <a:r>
              <a:rPr lang="en-US" sz="1100" b="1" dirty="0">
                <a:solidFill>
                  <a:srgbClr val="162832"/>
                </a:solidFill>
                <a:latin typeface="Calibri" pitchFamily="34" charset="0"/>
                <a:ea typeface="Calibri" pitchFamily="34" charset="-122"/>
                <a:cs typeface="Calibri" pitchFamily="34" charset="-120"/>
              </a:rPr>
              <a:t>Negative overfitting gap is not a warning</a:t>
            </a:r>
            <a:endParaRPr lang="en-US" sz="1100" dirty="0"/>
          </a:p>
        </p:txBody>
      </p:sp>
      <p:sp>
        <p:nvSpPr>
          <p:cNvPr id="20" name="Text 18"/>
          <p:cNvSpPr/>
          <p:nvPr/>
        </p:nvSpPr>
        <p:spPr>
          <a:xfrm>
            <a:off x="548640" y="3502152"/>
            <a:ext cx="3840480" cy="731520"/>
          </a:xfrm>
          <a:prstGeom prst="rect">
            <a:avLst/>
          </a:prstGeom>
          <a:noFill/>
          <a:ln/>
        </p:spPr>
        <p:txBody>
          <a:bodyPr wrap="square" rtlCol="0" anchor="ctr"/>
          <a:lstStyle/>
          <a:p>
            <a:pPr indent="0" marL="0">
              <a:buNone/>
            </a:pPr>
            <a:r>
              <a:rPr lang="en-US" sz="950" dirty="0">
                <a:solidFill>
                  <a:srgbClr val="2E4A5A"/>
                </a:solidFill>
                <a:latin typeface="Calibri" pitchFamily="34" charset="0"/>
                <a:ea typeface="Calibri" pitchFamily="34" charset="-122"/>
                <a:cs typeface="Calibri" pitchFamily="34" charset="-120"/>
              </a:rPr>
              <a:t>Test accuracy exceeding train accuracy reflects dropout and augmentation applied only during training — this is healthy generalisation, not data leakage.</a:t>
            </a:r>
            <a:endParaRPr lang="en-US" sz="950" dirty="0"/>
          </a:p>
        </p:txBody>
      </p:sp>
      <p:sp>
        <p:nvSpPr>
          <p:cNvPr id="21" name="Shape 19"/>
          <p:cNvSpPr/>
          <p:nvPr/>
        </p:nvSpPr>
        <p:spPr>
          <a:xfrm>
            <a:off x="4800600" y="2697480"/>
            <a:ext cx="4069080" cy="1572768"/>
          </a:xfrm>
          <a:prstGeom prst="rect">
            <a:avLst/>
          </a:prstGeom>
          <a:solidFill>
            <a:srgbClr val="F4F8FA"/>
          </a:solidFill>
          <a:ln w="12700">
            <a:solidFill>
              <a:srgbClr val="A8D8CE"/>
            </a:solidFill>
            <a:prstDash val="solid"/>
          </a:ln>
          <a:effectLst>
            <a:outerShdw sx="100000" sy="100000" kx="0" ky="0" algn="bl" rotWithShape="0" blurRad="63500" dist="25400" dir="8100000">
              <a:srgbClr val="000000">
                <a:alpha val="6000"/>
              </a:srgbClr>
            </a:outerShdw>
          </a:effectLst>
        </p:spPr>
      </p:sp>
      <p:sp>
        <p:nvSpPr>
          <p:cNvPr id="22" name="Shape 20"/>
          <p:cNvSpPr/>
          <p:nvPr/>
        </p:nvSpPr>
        <p:spPr>
          <a:xfrm>
            <a:off x="4800600" y="2697480"/>
            <a:ext cx="402336" cy="402336"/>
          </a:xfrm>
          <a:prstGeom prst="rect">
            <a:avLst/>
          </a:prstGeom>
          <a:solidFill>
            <a:srgbClr val="1A5C4E"/>
          </a:solidFill>
          <a:ln w="12700">
            <a:solidFill>
              <a:srgbClr val="1A5C4E"/>
            </a:solidFill>
            <a:prstDash val="solid"/>
          </a:ln>
        </p:spPr>
      </p:sp>
      <p:sp>
        <p:nvSpPr>
          <p:cNvPr id="23" name="Text 21"/>
          <p:cNvSpPr/>
          <p:nvPr/>
        </p:nvSpPr>
        <p:spPr>
          <a:xfrm>
            <a:off x="4800600" y="269748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4" name="Text 22"/>
          <p:cNvSpPr/>
          <p:nvPr/>
        </p:nvSpPr>
        <p:spPr>
          <a:xfrm>
            <a:off x="4892040" y="3154680"/>
            <a:ext cx="3840480" cy="329184"/>
          </a:xfrm>
          <a:prstGeom prst="rect">
            <a:avLst/>
          </a:prstGeom>
          <a:noFill/>
          <a:ln/>
        </p:spPr>
        <p:txBody>
          <a:bodyPr wrap="square" rtlCol="0" anchor="ctr"/>
          <a:lstStyle/>
          <a:p>
            <a:pPr indent="0" marL="0">
              <a:buNone/>
            </a:pPr>
            <a:r>
              <a:rPr lang="en-US" sz="1100" b="1" dirty="0">
                <a:solidFill>
                  <a:srgbClr val="162832"/>
                </a:solidFill>
                <a:latin typeface="Calibri" pitchFamily="34" charset="0"/>
                <a:ea typeface="Calibri" pitchFamily="34" charset="-122"/>
                <a:cs typeface="Calibri" pitchFamily="34" charset="-120"/>
              </a:rPr>
              <a:t>Stain normalisation on modern Colab</a:t>
            </a:r>
            <a:endParaRPr lang="en-US" sz="1100" dirty="0"/>
          </a:p>
        </p:txBody>
      </p:sp>
      <p:sp>
        <p:nvSpPr>
          <p:cNvPr id="25" name="Text 23"/>
          <p:cNvSpPr/>
          <p:nvPr/>
        </p:nvSpPr>
        <p:spPr>
          <a:xfrm>
            <a:off x="4892040" y="3502152"/>
            <a:ext cx="3840480" cy="731520"/>
          </a:xfrm>
          <a:prstGeom prst="rect">
            <a:avLst/>
          </a:prstGeom>
          <a:noFill/>
          <a:ln/>
        </p:spPr>
        <p:txBody>
          <a:bodyPr wrap="square" rtlCol="0" anchor="ctr"/>
          <a:lstStyle/>
          <a:p>
            <a:pPr indent="0" marL="0">
              <a:buNone/>
            </a:pPr>
            <a:r>
              <a:rPr lang="en-US" sz="950" dirty="0">
                <a:solidFill>
                  <a:srgbClr val="2E4A5A"/>
                </a:solidFill>
                <a:latin typeface="Calibri" pitchFamily="34" charset="0"/>
                <a:ea typeface="Calibri" pitchFamily="34" charset="-122"/>
                <a:cs typeface="Calibri" pitchFamily="34" charset="-120"/>
              </a:rPr>
              <a:t>staintools and spams both fail on Python 3.12. A custom LAB-based Macenko normalisation using numpy and OpenCV was implemented directly.</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2832"/>
        </a:solidFill>
      </p:bgPr>
    </p:bg>
    <p:spTree>
      <p:nvGrpSpPr>
        <p:cNvPr id="1" name=""/>
        <p:cNvGrpSpPr/>
        <p:nvPr/>
      </p:nvGrpSpPr>
      <p:grpSpPr>
        <a:xfrm>
          <a:off x="0" y="0"/>
          <a:ext cx="0" cy="0"/>
          <a:chOff x="0" y="0"/>
          <a:chExt cx="0" cy="0"/>
        </a:xfrm>
      </p:grpSpPr>
      <p:sp>
        <p:nvSpPr>
          <p:cNvPr id="2" name="Shape 0"/>
          <p:cNvSpPr/>
          <p:nvPr/>
        </p:nvSpPr>
        <p:spPr>
          <a:xfrm>
            <a:off x="7132320" y="-914400"/>
            <a:ext cx="3657600" cy="3657600"/>
          </a:xfrm>
          <a:prstGeom prst="ellipse">
            <a:avLst/>
          </a:prstGeom>
          <a:solidFill>
            <a:srgbClr val="2E8B7A">
              <a:alpha val="12000"/>
            </a:srgbClr>
          </a:solidFill>
          <a:ln w="12700">
            <a:solidFill>
              <a:srgbClr val="2E8B7A"/>
            </a:solidFill>
            <a:prstDash val="solid"/>
          </a:ln>
        </p:spPr>
      </p:sp>
      <p:sp>
        <p:nvSpPr>
          <p:cNvPr id="3" name="Shape 1"/>
          <p:cNvSpPr/>
          <p:nvPr/>
        </p:nvSpPr>
        <p:spPr>
          <a:xfrm>
            <a:off x="7772400" y="-457200"/>
            <a:ext cx="2194560" cy="2194560"/>
          </a:xfrm>
          <a:prstGeom prst="ellipse">
            <a:avLst/>
          </a:prstGeom>
          <a:solidFill>
            <a:srgbClr val="A8D8CE">
              <a:alpha val="10000"/>
            </a:srgbClr>
          </a:solidFill>
          <a:ln w="12700">
            <a:solidFill>
              <a:srgbClr val="A8D8CE"/>
            </a:solidFill>
            <a:prstDash val="solid"/>
          </a:ln>
        </p:spPr>
      </p:sp>
      <p:sp>
        <p:nvSpPr>
          <p:cNvPr id="4" name="Shape 2"/>
          <p:cNvSpPr/>
          <p:nvPr/>
        </p:nvSpPr>
        <p:spPr>
          <a:xfrm>
            <a:off x="6858000" y="2560320"/>
            <a:ext cx="4114800" cy="4114800"/>
          </a:xfrm>
          <a:prstGeom prst="ellipse">
            <a:avLst/>
          </a:prstGeom>
          <a:solidFill>
            <a:srgbClr val="2E8B7A">
              <a:alpha val="10000"/>
            </a:srgbClr>
          </a:solidFill>
          <a:ln w="12700">
            <a:solidFill>
              <a:srgbClr val="2E8B7A"/>
            </a:solidFill>
            <a:prstDash val="solid"/>
          </a:ln>
        </p:spPr>
      </p:sp>
      <p:sp>
        <p:nvSpPr>
          <p:cNvPr id="5" name="Text 3"/>
          <p:cNvSpPr/>
          <p:nvPr/>
        </p:nvSpPr>
        <p:spPr>
          <a:xfrm>
            <a:off x="640080" y="347472"/>
            <a:ext cx="6858000" cy="566928"/>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Conclusion</a:t>
            </a:r>
            <a:endParaRPr lang="en-US" sz="2800" dirty="0"/>
          </a:p>
        </p:txBody>
      </p:sp>
      <p:sp>
        <p:nvSpPr>
          <p:cNvPr id="6" name="Shape 4"/>
          <p:cNvSpPr/>
          <p:nvPr/>
        </p:nvSpPr>
        <p:spPr>
          <a:xfrm>
            <a:off x="640080" y="1097280"/>
            <a:ext cx="54864" cy="438912"/>
          </a:xfrm>
          <a:prstGeom prst="rect">
            <a:avLst/>
          </a:prstGeom>
          <a:solidFill>
            <a:srgbClr val="C8943A"/>
          </a:solidFill>
          <a:ln w="12700">
            <a:solidFill>
              <a:srgbClr val="C8943A"/>
            </a:solidFill>
            <a:prstDash val="solid"/>
          </a:ln>
        </p:spPr>
      </p:sp>
      <p:sp>
        <p:nvSpPr>
          <p:cNvPr id="7" name="Text 5"/>
          <p:cNvSpPr/>
          <p:nvPr/>
        </p:nvSpPr>
        <p:spPr>
          <a:xfrm>
            <a:off x="804672" y="1060704"/>
            <a:ext cx="7132320" cy="512064"/>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ResNet-50 with transfer learning achieves 99.87% test accuracy on the LC25000 five-class histopathology dataset — only lung_aca vs lung_scc shows any confusion.</a:t>
            </a:r>
            <a:endParaRPr lang="en-US" sz="1000" dirty="0"/>
          </a:p>
        </p:txBody>
      </p:sp>
      <p:sp>
        <p:nvSpPr>
          <p:cNvPr id="8" name="Shape 6"/>
          <p:cNvSpPr/>
          <p:nvPr/>
        </p:nvSpPr>
        <p:spPr>
          <a:xfrm>
            <a:off x="640080" y="1810512"/>
            <a:ext cx="54864" cy="438912"/>
          </a:xfrm>
          <a:prstGeom prst="rect">
            <a:avLst/>
          </a:prstGeom>
          <a:solidFill>
            <a:srgbClr val="C8943A"/>
          </a:solidFill>
          <a:ln w="12700">
            <a:solidFill>
              <a:srgbClr val="C8943A"/>
            </a:solidFill>
            <a:prstDash val="solid"/>
          </a:ln>
        </p:spPr>
      </p:sp>
      <p:sp>
        <p:nvSpPr>
          <p:cNvPr id="9" name="Text 7"/>
          <p:cNvSpPr/>
          <p:nvPr/>
        </p:nvSpPr>
        <p:spPr>
          <a:xfrm>
            <a:off x="804672" y="1773936"/>
            <a:ext cx="7132320" cy="512064"/>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The negative train-test gap (-0.0021) confirms strong generalisation with no overfitting.</a:t>
            </a:r>
            <a:endParaRPr lang="en-US" sz="1000" dirty="0"/>
          </a:p>
        </p:txBody>
      </p:sp>
      <p:sp>
        <p:nvSpPr>
          <p:cNvPr id="10" name="Shape 8"/>
          <p:cNvSpPr/>
          <p:nvPr/>
        </p:nvSpPr>
        <p:spPr>
          <a:xfrm>
            <a:off x="640080" y="2523744"/>
            <a:ext cx="54864" cy="438912"/>
          </a:xfrm>
          <a:prstGeom prst="rect">
            <a:avLst/>
          </a:prstGeom>
          <a:solidFill>
            <a:srgbClr val="C8943A"/>
          </a:solidFill>
          <a:ln w="12700">
            <a:solidFill>
              <a:srgbClr val="C8943A"/>
            </a:solidFill>
            <a:prstDash val="solid"/>
          </a:ln>
        </p:spPr>
      </p:sp>
      <p:sp>
        <p:nvSpPr>
          <p:cNvPr id="11" name="Text 9"/>
          <p:cNvSpPr/>
          <p:nvPr/>
        </p:nvSpPr>
        <p:spPr>
          <a:xfrm>
            <a:off x="804672" y="2487168"/>
            <a:ext cx="7132320" cy="512064"/>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Grad-CAM analysis shows activation aligns with diagnostically relevant histological structures for all five classes, providing interpretable evidence that the model learns genuine pathology.</a:t>
            </a:r>
            <a:endParaRPr lang="en-US" sz="1000" dirty="0"/>
          </a:p>
        </p:txBody>
      </p:sp>
      <p:sp>
        <p:nvSpPr>
          <p:cNvPr id="12" name="Shape 10"/>
          <p:cNvSpPr/>
          <p:nvPr/>
        </p:nvSpPr>
        <p:spPr>
          <a:xfrm>
            <a:off x="640080" y="3236976"/>
            <a:ext cx="54864" cy="438912"/>
          </a:xfrm>
          <a:prstGeom prst="rect">
            <a:avLst/>
          </a:prstGeom>
          <a:solidFill>
            <a:srgbClr val="C8943A"/>
          </a:solidFill>
          <a:ln w="12700">
            <a:solidFill>
              <a:srgbClr val="C8943A"/>
            </a:solidFill>
            <a:prstDash val="solid"/>
          </a:ln>
        </p:spPr>
      </p:sp>
      <p:sp>
        <p:nvSpPr>
          <p:cNvPr id="13" name="Text 11"/>
          <p:cNvSpPr/>
          <p:nvPr/>
        </p:nvSpPr>
        <p:spPr>
          <a:xfrm>
            <a:off x="804672" y="3200400"/>
            <a:ext cx="7132320" cy="512064"/>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Macenko stain normalisation was successfully implemented using a custom numpy/OpenCV approach when standard libraries failed on Python 3.12.</a:t>
            </a:r>
            <a:endParaRPr lang="en-US" sz="1000" dirty="0"/>
          </a:p>
        </p:txBody>
      </p:sp>
      <p:sp>
        <p:nvSpPr>
          <p:cNvPr id="14" name="Shape 12"/>
          <p:cNvSpPr/>
          <p:nvPr/>
        </p:nvSpPr>
        <p:spPr>
          <a:xfrm>
            <a:off x="640080" y="3950208"/>
            <a:ext cx="54864" cy="438912"/>
          </a:xfrm>
          <a:prstGeom prst="rect">
            <a:avLst/>
          </a:prstGeom>
          <a:solidFill>
            <a:srgbClr val="C8943A"/>
          </a:solidFill>
          <a:ln w="12700">
            <a:solidFill>
              <a:srgbClr val="C8943A"/>
            </a:solidFill>
            <a:prstDash val="solid"/>
          </a:ln>
        </p:spPr>
      </p:sp>
      <p:sp>
        <p:nvSpPr>
          <p:cNvPr id="15" name="Text 13"/>
          <p:cNvSpPr/>
          <p:nvPr/>
        </p:nvSpPr>
        <p:spPr>
          <a:xfrm>
            <a:off x="804672" y="3913632"/>
            <a:ext cx="7132320" cy="512064"/>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 deployed Gradio application makes the model accessible for educational and screening purposes.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2832"/>
        </a:solidFill>
      </p:bgPr>
    </p:bg>
    <p:spTree>
      <p:nvGrpSpPr>
        <p:cNvPr id="1" name=""/>
        <p:cNvGrpSpPr/>
        <p:nvPr/>
      </p:nvGrpSpPr>
      <p:grpSpPr>
        <a:xfrm>
          <a:off x="0" y="0"/>
          <a:ext cx="0" cy="0"/>
          <a:chOff x="0" y="0"/>
          <a:chExt cx="0" cy="0"/>
        </a:xfrm>
      </p:grpSpPr>
      <p:sp>
        <p:nvSpPr>
          <p:cNvPr id="2" name="Shape 0"/>
          <p:cNvSpPr/>
          <p:nvPr/>
        </p:nvSpPr>
        <p:spPr>
          <a:xfrm>
            <a:off x="7132320" y="-914400"/>
            <a:ext cx="3657600" cy="3657600"/>
          </a:xfrm>
          <a:prstGeom prst="ellipse">
            <a:avLst/>
          </a:prstGeom>
          <a:solidFill>
            <a:srgbClr val="2E8B7A">
              <a:alpha val="12000"/>
            </a:srgbClr>
          </a:solidFill>
          <a:ln w="12700">
            <a:solidFill>
              <a:srgbClr val="2E8B7A"/>
            </a:solidFill>
            <a:prstDash val="solid"/>
          </a:ln>
        </p:spPr>
      </p:sp>
      <p:sp>
        <p:nvSpPr>
          <p:cNvPr id="3" name="Shape 1"/>
          <p:cNvSpPr/>
          <p:nvPr/>
        </p:nvSpPr>
        <p:spPr>
          <a:xfrm>
            <a:off x="7772400" y="-457200"/>
            <a:ext cx="2194560" cy="2194560"/>
          </a:xfrm>
          <a:prstGeom prst="ellipse">
            <a:avLst/>
          </a:prstGeom>
          <a:solidFill>
            <a:srgbClr val="A8D8CE">
              <a:alpha val="10000"/>
            </a:srgbClr>
          </a:solidFill>
          <a:ln w="12700">
            <a:solidFill>
              <a:srgbClr val="A8D8CE"/>
            </a:solidFill>
            <a:prstDash val="solid"/>
          </a:ln>
        </p:spPr>
      </p:sp>
      <p:sp>
        <p:nvSpPr>
          <p:cNvPr id="4" name="Shape 2"/>
          <p:cNvSpPr/>
          <p:nvPr/>
        </p:nvSpPr>
        <p:spPr>
          <a:xfrm>
            <a:off x="-1371600" y="2926080"/>
            <a:ext cx="5029200" cy="5029200"/>
          </a:xfrm>
          <a:prstGeom prst="ellipse">
            <a:avLst/>
          </a:prstGeom>
          <a:solidFill>
            <a:srgbClr val="2E8B7A">
              <a:alpha val="12000"/>
            </a:srgbClr>
          </a:solidFill>
          <a:ln w="12700">
            <a:solidFill>
              <a:srgbClr val="2E8B7A"/>
            </a:solidFill>
            <a:prstDash val="solid"/>
          </a:ln>
        </p:spPr>
      </p:sp>
      <p:sp>
        <p:nvSpPr>
          <p:cNvPr id="5" name="Text 3"/>
          <p:cNvSpPr/>
          <p:nvPr/>
        </p:nvSpPr>
        <p:spPr>
          <a:xfrm>
            <a:off x="1371600" y="1005840"/>
            <a:ext cx="6400800" cy="1005840"/>
          </a:xfrm>
          <a:prstGeom prst="rect">
            <a:avLst/>
          </a:prstGeom>
          <a:noFill/>
          <a:ln/>
        </p:spPr>
        <p:txBody>
          <a:bodyPr wrap="square"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6" name="Text 4"/>
          <p:cNvSpPr/>
          <p:nvPr/>
        </p:nvSpPr>
        <p:spPr>
          <a:xfrm>
            <a:off x="1371600" y="2011680"/>
            <a:ext cx="6400800" cy="457200"/>
          </a:xfrm>
          <a:prstGeom prst="rect">
            <a:avLst/>
          </a:prstGeom>
          <a:noFill/>
          <a:ln/>
        </p:spPr>
        <p:txBody>
          <a:bodyPr wrap="square" rtlCol="0" anchor="ctr"/>
          <a:lstStyle/>
          <a:p>
            <a:pPr algn="ctr" indent="0" marL="0">
              <a:buNone/>
            </a:pPr>
            <a:r>
              <a:rPr lang="en-US" sz="1800" i="1" dirty="0">
                <a:solidFill>
                  <a:srgbClr val="A8D8CE"/>
                </a:solidFill>
                <a:latin typeface="Calibri" pitchFamily="34" charset="0"/>
                <a:ea typeface="Calibri" pitchFamily="34" charset="-122"/>
                <a:cs typeface="Calibri" pitchFamily="34" charset="-120"/>
              </a:rPr>
              <a:t>Questions?</a:t>
            </a:r>
            <a:endParaRPr lang="en-US" sz="1800" dirty="0"/>
          </a:p>
        </p:txBody>
      </p:sp>
      <p:sp>
        <p:nvSpPr>
          <p:cNvPr id="7" name="Shape 5"/>
          <p:cNvSpPr/>
          <p:nvPr/>
        </p:nvSpPr>
        <p:spPr>
          <a:xfrm>
            <a:off x="2286000" y="2706624"/>
            <a:ext cx="4572000" cy="36576"/>
          </a:xfrm>
          <a:prstGeom prst="rect">
            <a:avLst/>
          </a:prstGeom>
          <a:solidFill>
            <a:srgbClr val="C8943A"/>
          </a:solidFill>
          <a:ln w="12700">
            <a:solidFill>
              <a:srgbClr val="C8943A"/>
            </a:solidFill>
            <a:prstDash val="solid"/>
          </a:ln>
        </p:spPr>
      </p:sp>
      <p:sp>
        <p:nvSpPr>
          <p:cNvPr id="8" name="Text 6"/>
          <p:cNvSpPr/>
          <p:nvPr/>
        </p:nvSpPr>
        <p:spPr>
          <a:xfrm>
            <a:off x="1371600" y="2880360"/>
            <a:ext cx="6400800" cy="109728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github.com/hodyek/lung-colon-cancer-histopathology
</a:t>
            </a:r>
            <a:pPr algn="ctr" indent="0" marL="0">
              <a:buNone/>
            </a:pPr>
            <a:r>
              <a:rPr lang="en-US" sz="1100" dirty="0">
                <a:solidFill>
                  <a:srgbClr val="A8D8CE"/>
                </a:solidFill>
                <a:latin typeface="Calibri" pitchFamily="34" charset="0"/>
                <a:ea typeface="Calibri" pitchFamily="34" charset="-122"/>
                <a:cs typeface="Calibri" pitchFamily="34" charset="-120"/>
              </a:rPr>
              <a:t>Odyek Henry  |  2025/HD07/26018U  |  Makerere University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Lung and Colon Cancer Histopathological Classification</dc:title>
  <dc:subject>PptxGenJS Presentation</dc:subject>
  <dc:creator>Odyek Henry</dc:creator>
  <cp:lastModifiedBy>Odyek Henry</cp:lastModifiedBy>
  <cp:revision>1</cp:revision>
  <dcterms:created xsi:type="dcterms:W3CDTF">2026-05-29T20:18:34Z</dcterms:created>
  <dcterms:modified xsi:type="dcterms:W3CDTF">2026-05-29T20:18:34Z</dcterms:modified>
</cp:coreProperties>
</file>